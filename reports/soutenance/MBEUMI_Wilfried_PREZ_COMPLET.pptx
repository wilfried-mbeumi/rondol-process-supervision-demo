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1443705" cy="64008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48640"/>
            <a:ext cx="2459485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Segoe UI"/>
              </a:defRPr>
            </a:pPr>
            <a:r>
              <a:t>THÈSE PROFESSIONNELLE — MASTÈRE 2 DATA &amp; INTELLIGENCE ARTIFICIELLE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Rendre un procédé d'extrusion</a:t>
            </a:r>
            <a:br/>
            <a:r>
              <a:t>lisible, comparable et prédictible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Jumeau numérique et IA explicable pour l'extrusion bivis</a:t>
            </a:r>
            <a:br/>
            <a:r>
              <a:t>de composants de batteries tout-solide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Wilfried Galtier MBEUMI</a:t>
            </a:r>
            <a:br/>
            <a:r>
              <a:t>Nexa Digital School — 2025–2026</a:t>
            </a:r>
            <a:br/>
            <a:r>
              <a:t>Encadrement industriel : Maël Gallas — Rondol Industrie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Déroulé de la présentation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01 — CONTEXTE &amp; MARCHÉ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Rondol, batteries SSB, concurrence, SWOT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02 — 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Trois exigences non négociables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03 — SOLUTION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Architecture, vis, physique, agent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2064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212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04 — DONNÉES &amp; MODÉLISATION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Pipeline ML, LOGO, championnat, audit fuite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05 — RÉSULTATS &amp; INTÉGRITÉ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Modèle corrigé, validation externe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06 — APPLICATION &amp; JUMEAU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HMI industrielle, 5 cas de démonstration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07 — GESTION DE PROJET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Kanban, veille, budget, qualité logicielle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120640"/>
            <a:ext cx="50292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08 — 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Bilan, limites,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Rondol Industrie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PME deeptech française, fondée en 2012 — extrusion bivis de laboratoire et pré-série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POSITIONNEMENT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Extrudeuses bivis Ø 10,5 mm et 21 mm.</a:t>
            </a:r>
            <a:br/>
            <a:r>
              <a:t>Configurations horizontale et verticale. Niche laboratoire R&amp;D.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2860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RECONNAISSANCE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743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Double nomination Prix Galien (2020, 2023).</a:t>
            </a:r>
            <a:br/>
            <a:r>
              <a:t>Brevets configurations vis modulaires.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2860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VALEURS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743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Précision (géométrie fine), Reproductibilité</a:t>
            </a:r>
            <a:br/>
            <a:r>
              <a:t>(configs comparables), Accessibilité (R&amp;D).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0972800" cy="7315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Activité : plateformes d'extrusion labo + services d'optimisation de formulations — pharma, alimentaire et batteries tout-solide.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Le marché des batteries tout-solide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MARCHÉ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0,26 Md$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MarketsandMarkets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MARCHÉ 2031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Segoe UI"/>
              </a:defRPr>
            </a:pPr>
            <a:r>
              <a:t>1,77 Md$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CAGR 37,5 %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1168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GRAND VIEW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Segoe UI"/>
              </a:defRPr>
            </a:pPr>
            <a:r>
              <a:t>15,65 Md$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Horizon 2030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VOIE HUMIDE (dominante)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Solvant NMP toxique, séchage énergivore.</a:t>
            </a:r>
            <a:br/>
            <a:r>
              <a:t>Sous pression PFAS / ECHA.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EXTRUSION SÈCHE (Rondol)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Procédé continu, sans solvant.</a:t>
            </a:r>
            <a:br/>
            <a:r>
              <a:t>Formulations céramiques abrasives, peu documentées.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Analyse concurrentielle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Concurrent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Coperion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Allemagne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Forces : Leader mondial, grande capacité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517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Faiblesses : Pas d'offre labo miniaturisée, pas de jumeau numérique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0972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Concurrent 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Thermo Fisher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États-Unis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Forces : Segment labo, marque reconnue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148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Faiblesses : Approche générique, pas de personnalisation géométrie vis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937760"/>
            <a:ext cx="10972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Concurrent indirect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Leistritz / ENTEK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Allemagne / 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74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Forces : Extrusion de production, ENTEK sur batterie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778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Faiblesses : Pas de labo miniaturisé, pas d'IA embarquée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69280"/>
            <a:ext cx="1097280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155"/>
                </a:solidFill>
                <a:latin typeface="Segoe UI"/>
              </a:defRPr>
            </a:pPr>
            <a:r>
              <a:t>Position Rondol : miniaturisation 10,5 mm, brevets, et — avec ce projet — un jumeau numérique unique sur le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Analyse SWOT</a:t>
            </a:r>
          </a:p>
        </p:txBody>
      </p:sp>
      <p:pic>
        <p:nvPicPr>
          <p:cNvPr id="6" name="Picture 5" descr="fig_sw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645920"/>
            <a:ext cx="9144000" cy="56568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02 —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Une question, trois exigences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Comment concevoir un système d'aide à la décision qui rende un procédé</a:t>
            </a:r>
            <a:br/>
            <a:r>
              <a:t>d'extrusion bivis lisible, comparable et prédictible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TRAÇABLE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Toute valeur explicable à un</a:t>
            </a:r>
            <a:br/>
            <a:r>
              <a:t>ingénieur procédé.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32004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HONNÊTE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Ce qui n'est pas calibré est</a:t>
            </a:r>
            <a:br/>
            <a:r>
              <a:t>annoncé comme tel.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20040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DÉMONTRABLE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4023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Utilisable devant le client,</a:t>
            </a:r>
            <a:br/>
            <a:r>
              <a:t>pas une maquette.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03 — SOLUTION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Architecture en couches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Principe fondateur : envelopper, ne pas recalculer.</a:t>
            </a: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11680"/>
            <a:ext cx="10058400" cy="6562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03 — SOLUTION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La vis devient un objet calculable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Géométrie réelle Rondol Ø 10,5 mm — pas un modèle générique.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positions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types d'éléments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appel unique (N7)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897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zones thermiques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Convoyage  →  Malaxage  →  Cisaillement  →  Restriction  →  Filière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72000"/>
            <a:ext cx="10972800" cy="9144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Grandeurs dérivées : taux de remplissage, temps de séjour, volume occupé/libre, agrégation par zone.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03 — SOLUTION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Physique embarquée — nominale, annoncée comme telle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Viscosité locale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η(γ̇, 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Carreau-Yasuda + Arrhénius.</a:t>
            </a:r>
            <a:br/>
            <a:r>
              <a:t>Presets par matière.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0116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Couple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  <a:latin typeface="Segoe UI"/>
              </a:defRPr>
            </a:pPr>
            <a:r>
              <a:t>M = η·γ̇²·V / 2πN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Nœud par nœud,</a:t>
            </a:r>
            <a:br/>
            <a:r>
              <a:t>agrégation par zone.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0116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Équation thermique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T = Tc + (2πNM)/(ṁCp) + kτ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2004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Imposée par</a:t>
            </a:r>
            <a:br/>
            <a:r>
              <a:t>l'encadrement industriel.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0972800" cy="7315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E5, E6, E7 différées. L'interface affiche « À venir » plutôt qu'une valeur non calibrée.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03 — SOLUTION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Le modèle prédit. Les règles expliquent. L'humain décide.</a:t>
            </a:r>
          </a:p>
        </p:txBody>
      </p:sp>
      <p:pic>
        <p:nvPicPr>
          <p:cNvPr id="6" name="Picture 5" descr="fig_two_level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28800"/>
            <a:ext cx="10058400" cy="58779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486400"/>
            <a:ext cx="1097280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155"/>
                </a:solidFill>
                <a:latin typeface="Segoe UI"/>
              </a:defRPr>
            </a:pPr>
            <a:r>
              <a:t>11 règles explicables. Chaque recommandation : quel paramètre, dans quel sens, de combien.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04 — DONNÉES &amp; MODÉLISATION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Campagne réelle — 8 essais exploitables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7–13 avril 2026 · 12 fichiers CSV · capteurs de température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310 782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relevés bruts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627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fenêtres 60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Segoe UI"/>
              </a:defRPr>
            </a:pPr>
            <a:r>
              <a:t>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variables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1945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897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essais exploitables</a:t>
            </a:r>
          </a:p>
        </p:txBody>
      </p:sp>
      <p:pic>
        <p:nvPicPr>
          <p:cNvPr id="23" name="Picture 22" descr="fig_data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10058400" cy="55729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04 — DONNÉES &amp; MODÉLISATION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La séparation par essai change la vérité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Leave-One-Group-Out : un essai entier écarté à chaque pli.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4114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PARTITION ALÉATOIRE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97706"/>
                </a:solidFill>
                <a:latin typeface="Segoe UI"/>
              </a:defRPr>
            </a:pPr>
            <a:r>
              <a:t>0,92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F1-macro — optimiste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286000"/>
            <a:ext cx="4114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SÉPARATION PAR ESSAI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834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  <a:latin typeface="Segoe UI"/>
              </a:defRPr>
            </a:pPr>
            <a:r>
              <a:t>0,79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F1-macro — réaliste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0972800" cy="7315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15 points d'écart — la mesure de ce que vaut le modèle face à un essai jamais vu.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04 — DONNÉES &amp; MODÉLISATION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Championnat de cinq modèles</a:t>
            </a:r>
          </a:p>
        </p:txBody>
      </p:sp>
      <p:pic>
        <p:nvPicPr>
          <p:cNvPr id="6" name="Picture 5" descr="fig_championnat_mode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28800"/>
            <a:ext cx="10058400" cy="53199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486400"/>
            <a:ext cx="1097280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155"/>
                </a:solidFill>
                <a:latin typeface="Segoe UI"/>
              </a:defRPr>
            </a:pPr>
            <a:r>
              <a:t>RF retenu (0,809 F1-macro, 0,950 accuracy, 0,976 AUC). SVM gardé comme challenger.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05 — RÉSULTATS &amp; INTÉGRITÉ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Le résultat semblait décisif. Il était faux.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SANS AUGMENTATION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  <a:latin typeface="Segoe UI"/>
              </a:defRPr>
            </a:pPr>
            <a:r>
              <a:t>0,809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4748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28600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Segoe UI"/>
              </a:defRPr>
            </a:pPr>
            <a:r>
              <a:t>AUGMENTATION GLOBALE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743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97706"/>
                </a:solidFill>
                <a:latin typeface="Segoe UI"/>
              </a:defRPr>
            </a:pPr>
            <a:r>
              <a:t>0,918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FUITÉE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097280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Fuite par ancrage : le pool synthétique incluait l'essai de test. Correction : régénérer dans chaque pli.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94960"/>
            <a:ext cx="10972800" cy="64008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Correction : régénérer le pool dans chaque pli, depuis les seuls essais d'entraînement.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05 — RÉSULTATS &amp; INTÉGRITÉ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Le vrai résultat : le gain disparaît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Sans augm.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Globale (fuitée)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Par pli (corrigée)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0,809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0,918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0,809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SVM (RBF)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0,805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971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0,868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0,824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Régression logistique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0,799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0,860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0,809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77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0,757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977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0,900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0,801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Réseau de neurones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480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0,778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0,862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0,781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9200"/>
            <a:ext cx="10972800" cy="7315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Cinq modèles entre 0,78 et 0,82 — statistiquement indiscernables. Le +0,109 était un artefact.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05 — RÉSULTATS &amp; INTÉGRITÉ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Dire la vérité renforce le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Segoe UI"/>
              </a:defRPr>
            </a:pPr>
            <a:r>
              <a:t>DÉONTOLOGIQUE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Ne pas promettre une performance</a:t>
            </a:r>
            <a:br/>
            <a:r>
              <a:t>qui ne tiendrait pas en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Segoe UI"/>
              </a:defRPr>
            </a:pPr>
            <a:r>
              <a:t>MÉTHODOLOGIQUE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La performance dépend autant du</a:t>
            </a:r>
            <a:br/>
            <a:r>
              <a:t>protocole que de l'algorithme.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01168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REPRODUCTIBLE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Prédictions, métriques et générateur</a:t>
            </a:r>
            <a:br/>
            <a:r>
              <a:t>corrigé livrés.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F172A"/>
                </a:solidFill>
                <a:latin typeface="Segoe UI"/>
              </a:defRPr>
            </a:pPr>
            <a:r>
              <a:t>« J'aurais pu livrer 0,918 : personne ne l'aurait vu.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Ce n'est pas l'échec du modèle — c'est la réussite de l'audit.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05 — RÉSULTATS &amp; INTÉGRITÉ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Validation externe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Base simulée 100 800 lignes, sans réentraînement.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FENÊTRES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3 479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évaluées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1945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AUC EXTERNE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Segoe UI"/>
              </a:defRPr>
            </a:pPr>
            <a:r>
              <a:t>0,753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194560"/>
            <a:ext cx="329184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286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Segoe UI"/>
              </a:defRPr>
            </a:pPr>
            <a:r>
              <a:t>INSTABILITÉS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Segoe UI"/>
              </a:defRPr>
            </a:pPr>
            <a:r>
              <a:t>62%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détectées</a:t>
            </a:r>
          </a:p>
        </p:txBody>
      </p:sp>
      <p:pic>
        <p:nvPicPr>
          <p:cNvPr id="18" name="Picture 17" descr="fig_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57600"/>
            <a:ext cx="9144000" cy="53260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06 — APPLICATION &amp; JUMEAU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HMI industrielle — Supervision</a:t>
            </a:r>
          </a:p>
        </p:txBody>
      </p:sp>
      <p:pic>
        <p:nvPicPr>
          <p:cNvPr id="6" name="Picture 5" descr="cap_superv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0515600" cy="701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760720"/>
            <a:ext cx="2103120" cy="4572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7 pages Streamlit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760720"/>
            <a:ext cx="2103120" cy="4572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5806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Persistance 3 couches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760720"/>
            <a:ext cx="2103120" cy="4572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5806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Bilingue FR/EN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5760720"/>
            <a:ext cx="2103120" cy="4572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5806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PBKDF2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5760720"/>
            <a:ext cx="2103120" cy="45720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5806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WCAG 2.1 AA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06 — APPLICATION &amp; JUMEAU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Profil de vis &amp; Moteur Procédé</a:t>
            </a:r>
          </a:p>
        </p:txBody>
      </p:sp>
      <p:pic>
        <p:nvPicPr>
          <p:cNvPr id="6" name="Picture 5" descr="cap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5303520" cy="3535680"/>
          </a:xfrm>
          <a:prstGeom prst="rect">
            <a:avLst/>
          </a:prstGeom>
        </p:spPr>
      </p:pic>
      <p:pic>
        <p:nvPicPr>
          <p:cNvPr id="7" name="Picture 6" descr="cap_process_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828800"/>
            <a:ext cx="5303520" cy="3535680"/>
          </a:xfrm>
          <a:prstGeom prst="rect">
            <a:avLst/>
          </a:prstGeom>
        </p:spPr>
      </p:pic>
      <p:pic>
        <p:nvPicPr>
          <p:cNvPr id="8" name="Picture 7" descr="fig_persist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572000"/>
            <a:ext cx="9144000" cy="55002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06 — APPLICATION &amp; JUMEAU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Cinq cas — sensibilité et réversibilité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Scénario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Résultat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Référence LFP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65/100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68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Baseline établie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Configuration optimisée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017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9488"/>
                </a:solidFill>
                <a:latin typeface="Segoe UI"/>
              </a:defRPr>
            </a:pPr>
            <a:r>
              <a:t>82/100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L'outil est sensible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Défaut provoqué Z5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97706"/>
                </a:solidFill>
                <a:latin typeface="Segoe UI"/>
              </a:defRPr>
            </a:pPr>
            <a:r>
              <a:t>46/100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Alerte rouge, P(stab) = 0,30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148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Recommandation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114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Quel paramètre, sens, combien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Après correction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D9488"/>
                </a:solidFill>
                <a:latin typeface="Segoe UI"/>
              </a:defRPr>
            </a:pPr>
            <a:r>
              <a:t>+32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Segoe UI"/>
              </a:defRPr>
            </a:pPr>
            <a:r>
              <a:t>Alerte levée, +0,52 proba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03520"/>
            <a:ext cx="10972800" cy="7315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Segoe UI"/>
              </a:defRPr>
            </a:pPr>
            <a:r>
              <a:t>Sensibilité · Détectabilité · Réversibilité — les trois propriétés d'un jumeau numérique.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07 — GESTION DE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Piloté par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KANBAN · WIP 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Proposition → validation encadrant → développement → tests → démonstration.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Jan.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Cadrage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Avril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Campagne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Mai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Juin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017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Démo</a:t>
            </a:r>
          </a:p>
        </p:txBody>
      </p:sp>
      <p:pic>
        <p:nvPicPr>
          <p:cNvPr id="18" name="Picture 17" descr="fig_gan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10972800" cy="62024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07 — GESTION DE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Veille structurée &amp;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Segoe UI"/>
              </a:defRPr>
            </a:pPr>
            <a:r>
              <a:t>SYSTÈME DE VEILLE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Fréquence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Revues scientifiques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Technologique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Mensuelle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77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État de l'art (38 réfs)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Coperion, Thermo Fisher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Concurrentielle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Trimestrielle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Positionnement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Cabinets d'études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08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Sectorielle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Ponctuelle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Chiffrage marché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ECHA (PFAS)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74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Réglementaire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Semestrielle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Voie sèche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Poste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297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Coût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Temps-homme (4 mois)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663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Investissement principal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4155"/>
                </a:solidFill>
                <a:latin typeface="Segoe UI"/>
              </a:defRPr>
            </a:pPr>
            <a:r>
              <a:t>Ressource centrale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Licences logicielles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Open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0 €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949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Hébergement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39495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Freemium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3949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0 €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Données d'essais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760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Ressource Rondol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Mise à dispo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07 — GESTION DE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Indicateurs &amp; qualité logicielle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Indicateur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Mesuré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Segoe UI"/>
              </a:defRPr>
            </a:pPr>
            <a:r>
              <a:t>Statut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725 / 725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Atteint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7 /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Atteint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F1-macro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Segoe UI"/>
              </a:defRPr>
            </a:pPr>
            <a:r>
              <a:t>0,809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Non atteint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WCAG 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490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6,38:1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7490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Atteint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Démo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16 juin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Tenu</a:t>
            </a:r>
          </a:p>
        </p:txBody>
      </p:sp>
      <p:pic>
        <p:nvPicPr>
          <p:cNvPr id="24" name="Picture 23" descr="fig_te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645920"/>
            <a:ext cx="3657600" cy="207479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8640" y="5029200"/>
            <a:ext cx="10972800" cy="73152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F1 = 0,809 vs cible 0,85 : limite assumée. Le prochain gain viendra de nouvelles campagnes.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824974" cy="36576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37160"/>
            <a:ext cx="140542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08 —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Oui — le procédé devient lisible, comparable et prédictible.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Mais pas autonome.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ACQUIS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Jumeau numérique cohérent,</a:t>
            </a:r>
            <a:br/>
            <a:r>
              <a:t>agent explicable, HMI démontrable,</a:t>
            </a:r>
            <a:br/>
            <a:r>
              <a:t>modèle validé sous protocole strict.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2860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ASSUMÉ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Physique nominale, 8 essais,</a:t>
            </a:r>
            <a:br/>
            <a:r>
              <a:t>pression filière différée.</a:t>
            </a:r>
            <a:br/>
            <a:r>
              <a:t>Le cadre est explicite.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28600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APPRIS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30175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La rigueur du protocole vaut</a:t>
            </a:r>
            <a:br/>
            <a:r>
              <a:t>davantage qu'un score flatteur.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Segoe UI"/>
              </a:defRPr>
            </a:pPr>
            <a:r>
              <a:t>Le prochain gain viendra de nouvelles campagnes — pas d'un modèle plus sophistiqué.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x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1443705" cy="640080"/>
          </a:xfrm>
          <a:prstGeom prst="rect">
            <a:avLst/>
          </a:prstGeom>
        </p:spPr>
      </p:pic>
      <p:pic>
        <p:nvPicPr>
          <p:cNvPr id="3" name="Picture 2" descr="rondo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2459485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Merci.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Segoe UI"/>
              </a:defRPr>
            </a:pPr>
            <a:r>
              <a:t>Questions et échanges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AA"/>
                </a:solidFill>
                <a:latin typeface="Segoe UI"/>
              </a:defRPr>
            </a:pPr>
            <a:r>
              <a:t>Wilfried Galtier MBEUMI</a:t>
            </a:r>
            <a:br/>
            <a:r>
              <a:t>mbeumigautier@gmail.com</a:t>
            </a:r>
            <a:br/>
            <a:br/>
            <a:r>
              <a:t>Démo en ligne</a:t>
            </a:r>
            <a:br/>
            <a:r>
              <a:t>rondol-process-supervision-demo.streamlit.app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
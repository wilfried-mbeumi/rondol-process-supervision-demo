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2DD4BF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EAF2F4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RandomForest</c:v>
                  </c:pt>
                  <c:pt idx="1">
                    <c:v>SVM</c:v>
                  </c:pt>
                  <c:pt idx="2">
                    <c:v>XGBoost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0.95</c:v>
                </c:pt>
                <c:pt idx="1">
                  <c:v>0.953</c:v>
                </c:pt>
                <c:pt idx="2">
                  <c:v>0.882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F1 macro</c:v>
                </c:pt>
              </c:strCache>
            </c:strRef>
          </c:tx>
          <c:spPr>
            <a:solidFill>
              <a:srgbClr val="334155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EAF2F4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RandomForest</c:v>
                  </c:pt>
                  <c:pt idx="1">
                    <c:v>SVM</c:v>
                  </c:pt>
                  <c:pt idx="2">
                    <c:v>XGBoost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0.917</c:v>
                </c:pt>
                <c:pt idx="1">
                  <c:v>0.916</c:v>
                </c:pt>
                <c:pt idx="2">
                  <c:v>0.827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100" u="none">
                  <a:solidFill>
                    <a:srgbClr val="EAF2F4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EAF2F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.5"/>
        </c:scaling>
        <c:delete val="0"/>
        <c:axPos val="l"/>
        <c:majorGridlines>
          <c:spPr>
            <a:ln w="6350" cap="flat">
              <a:solidFill>
                <a:srgbClr val="2A344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9A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8B99A8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Accroche : une extrudeuse de laboratoire, un procédé encore instable, et la question — peut-on prédire la dérive avant qu'elle ne coûte un essai 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Principe fondateur : le réseau de calcul géométrique n'est exécuté qu'une fois ; toutes les couches supérieures l'enveloppent. Zéro duplication de physique.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2194560"/>
            <a:ext cx="5852160" cy="5852160"/>
          </a:xfrm>
          <a:prstGeom prst="ellipse">
            <a:avLst/>
          </a:prstGeom>
          <a:solidFill>
            <a:srgbClr val="1C232E"/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-1280160"/>
            <a:ext cx="4023360" cy="4023360"/>
          </a:xfrm>
          <a:prstGeom prst="ellipse">
            <a:avLst/>
          </a:prstGeom>
          <a:solidFill>
            <a:srgbClr val="222D3B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7373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THÈSE PROFESSIONNELLE · MASTÈRE 2 DATA &amp; IA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2148840"/>
            <a:ext cx="10607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AF2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Jumeau numérique prédictif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EAF2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pour l'extrusion bivis Rondol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3931920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B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Physique procédé, agent IA explicable et Machine Learning appliqués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8B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l'extrusion de composants de batteries tout-solide (voie sèche / semi-sèche)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53949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Wilfried MBEUMI</a:t>
            </a:r>
            <a:pPr indent="0" marL="0">
              <a:buNone/>
            </a:pPr>
            <a:r>
              <a:rPr lang="en-US" sz="1400" dirty="0">
                <a:solidFill>
                  <a:srgbClr val="8B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Encadrement industriel : Maël Gallas (Rondol)   ·  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AF2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contexte : batteries tout-solide, procédé encore jeune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7899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Rondol — extrudeuse bivis Ø 10,5 mm, R&amp;D lithium (LFP / LATP)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1C232E"/>
          </a:solidFill>
          <a:ln w="9525">
            <a:solidFill>
              <a:srgbClr val="2A344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139696"/>
            <a:ext cx="475488" cy="475488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1214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45920" y="1892808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Enjeu industriel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645920" y="228600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A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L'extrusion sèche/semi-sèche évite les solvants toxiques (NMP) et réduit le coût énergétique des électrodes — mais le procédé est difficile à stabiliser.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3264408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1C232E"/>
          </a:solidFill>
          <a:ln w="9525">
            <a:solidFill>
              <a:srgbClr val="2A34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8680" y="3712464"/>
            <a:ext cx="475488" cy="475488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6941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645920" y="346557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de laboratoire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645920" y="3858768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A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Extrudeuse bivis corotative Rondol : 81 positions de vis, 13 types d'éléments, 8 zones thermiques + filière — chaque essai est coûteux en matière active.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4837176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1C232E"/>
          </a:solidFill>
          <a:ln w="9525">
            <a:solidFill>
              <a:srgbClr val="2A344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68680" y="5285232"/>
            <a:ext cx="475488" cy="475488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526694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645920" y="5038344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manque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645920" y="5431536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A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d'outil reliant configuration de vis, physique du procédé et données capteurs pour anticiper les dérives et raisonner avant d'essayer.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AF2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problématique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005840" y="1554480"/>
            <a:ext cx="10149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EAF2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 Comment construire un outil d'aide à la décision qui rende un procédé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i="1" dirty="0">
                <a:solidFill>
                  <a:srgbClr val="EAF2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d'extrusion bivis lisible, comparable et prédictible — sans boîte noire ? »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822960" y="3291840"/>
            <a:ext cx="3383280" cy="2377440"/>
          </a:xfrm>
          <a:prstGeom prst="roundRect">
            <a:avLst>
              <a:gd name="adj" fmla="val 3077"/>
            </a:avLst>
          </a:prstGeom>
          <a:solidFill>
            <a:srgbClr val="1C232E"/>
          </a:solidFill>
          <a:ln w="9525">
            <a:solidFill>
              <a:srgbClr val="2A344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3703320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81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822960" y="457200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8B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positions de vis à configurer,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8B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espace combinatoire immense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407408" y="3291840"/>
            <a:ext cx="3383280" cy="2377440"/>
          </a:xfrm>
          <a:prstGeom prst="roundRect">
            <a:avLst>
              <a:gd name="adj" fmla="val 3077"/>
            </a:avLst>
          </a:prstGeom>
          <a:solidFill>
            <a:srgbClr val="1C232E"/>
          </a:solidFill>
          <a:ln w="9525">
            <a:solidFill>
              <a:srgbClr val="2A344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07408" y="3703320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4407408" y="457200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8B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capteurs de température,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8B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acquisition brute non exploitée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991856" y="3291840"/>
            <a:ext cx="3383280" cy="2377440"/>
          </a:xfrm>
          <a:prstGeom prst="roundRect">
            <a:avLst>
              <a:gd name="adj" fmla="val 3077"/>
            </a:avLst>
          </a:prstGeom>
          <a:solidFill>
            <a:srgbClr val="1C232E"/>
          </a:solidFill>
          <a:ln w="9525">
            <a:solidFill>
              <a:srgbClr val="2A344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91856" y="3703320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4B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7991856" y="457200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8B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outil existant reliant géométrie,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8B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physique et données machine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AF2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 architecture en couches : envelopper, ne pas recalculer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7899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couche est pure et testée ; la géométrie de vis est l'unique source de vérité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1005840"/>
          </a:xfrm>
          <a:prstGeom prst="roundRect">
            <a:avLst>
              <a:gd name="adj" fmla="val 7273"/>
            </a:avLst>
          </a:prstGeom>
          <a:solidFill>
            <a:srgbClr val="1C232E"/>
          </a:solidFill>
          <a:ln w="9525">
            <a:solidFill>
              <a:srgbClr val="2A344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2039112"/>
            <a:ext cx="128016" cy="493776"/>
          </a:xfrm>
          <a:prstGeom prst="roundRect">
            <a:avLst>
              <a:gd name="adj" fmla="val 35714"/>
            </a:avLst>
          </a:prstGeom>
          <a:solidFill>
            <a:srgbClr val="2DD4BF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1911096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HMI industrielle (Streamlit)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51560" y="228600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Supervision · Configuration vis · Paramètres IA · Analyse de run · Historique · Moteur procédé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953512"/>
            <a:ext cx="11064240" cy="1005840"/>
          </a:xfrm>
          <a:prstGeom prst="roundRect">
            <a:avLst>
              <a:gd name="adj" fmla="val 7273"/>
            </a:avLst>
          </a:prstGeom>
          <a:solidFill>
            <a:srgbClr val="1C232E"/>
          </a:solidFill>
          <a:ln w="9525">
            <a:solidFill>
              <a:srgbClr val="2A344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13232" y="3209544"/>
            <a:ext cx="128016" cy="493776"/>
          </a:xfrm>
          <a:prstGeom prst="roundRect">
            <a:avLst>
              <a:gd name="adj" fmla="val 35714"/>
            </a:avLst>
          </a:prstGeom>
          <a:solidFill>
            <a:srgbClr val="5EEAD4"/>
          </a:solidFill>
          <a:ln/>
        </p:spPr>
      </p:sp>
      <p:sp>
        <p:nvSpPr>
          <p:cNvPr id="10" name="Text 8"/>
          <p:cNvSpPr/>
          <p:nvPr/>
        </p:nvSpPr>
        <p:spPr>
          <a:xfrm>
            <a:off x="1051560" y="3081528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IA explicable + Modèle ML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51560" y="3456432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Règles métier → alertes &amp; recommandations chiffrées · RandomForest → score de stabilité, probabilité de dérive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4123944"/>
            <a:ext cx="11064240" cy="1005840"/>
          </a:xfrm>
          <a:prstGeom prst="roundRect">
            <a:avLst>
              <a:gd name="adj" fmla="val 7273"/>
            </a:avLst>
          </a:prstGeom>
          <a:solidFill>
            <a:srgbClr val="1C232E"/>
          </a:solidFill>
          <a:ln w="9525">
            <a:solidFill>
              <a:srgbClr val="2A344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4379976"/>
            <a:ext cx="128016" cy="493776"/>
          </a:xfrm>
          <a:prstGeom prst="roundRect">
            <a:avLst>
              <a:gd name="adj" fmla="val 35714"/>
            </a:avLst>
          </a:prstGeom>
          <a:solidFill>
            <a:srgbClr val="99F6E4"/>
          </a:solidFill>
          <a:ln/>
        </p:spPr>
      </p:sp>
      <p:sp>
        <p:nvSpPr>
          <p:cNvPr id="14" name="Text 12"/>
          <p:cNvSpPr/>
          <p:nvPr/>
        </p:nvSpPr>
        <p:spPr>
          <a:xfrm>
            <a:off x="1051560" y="4251960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Moteur physique (engine/)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51560" y="4626864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Viscosité Carreau-Yasuda + Arrhenius · couple local E4 · équation thermique manager · agrégats zone/machine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5294376"/>
            <a:ext cx="11064240" cy="1005840"/>
          </a:xfrm>
          <a:prstGeom prst="roundRect">
            <a:avLst>
              <a:gd name="adj" fmla="val 7273"/>
            </a:avLst>
          </a:prstGeom>
          <a:solidFill>
            <a:srgbClr val="1C232E"/>
          </a:solidFill>
          <a:ln w="9525">
            <a:solidFill>
              <a:srgbClr val="2A344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13232" y="5550408"/>
            <a:ext cx="128016" cy="493776"/>
          </a:xfrm>
          <a:prstGeom prst="roundRect">
            <a:avLst>
              <a:gd name="adj" fmla="val 35714"/>
            </a:avLst>
          </a:prstGeom>
          <a:solidFill>
            <a:srgbClr val="CCFBF1"/>
          </a:solidFill>
          <a:ln/>
        </p:spPr>
      </p:sp>
      <p:sp>
        <p:nvSpPr>
          <p:cNvPr id="18" name="Text 16"/>
          <p:cNvSpPr/>
          <p:nvPr/>
        </p:nvSpPr>
        <p:spPr>
          <a:xfrm>
            <a:off x="1051560" y="5422392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Backbone géométrique (screw_logic)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51560" y="5797296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Réseau 7 : remplissage, débit volumique, temps de résidence — calculé une seule fois, réutilisé partout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AF2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cœur métier : la vis, modélisée position par position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7899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configuration devient un objet calculable, comparable, historisable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329184" cy="822960"/>
          </a:xfrm>
          <a:prstGeom prst="roundRect">
            <a:avLst>
              <a:gd name="adj" fmla="val 11111"/>
            </a:avLst>
          </a:prstGeom>
          <a:solidFill>
            <a:srgbClr val="334155">
              <a:alpha val="6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216152" y="1920240"/>
            <a:ext cx="329184" cy="822960"/>
          </a:xfrm>
          <a:prstGeom prst="roundRect">
            <a:avLst>
              <a:gd name="adj" fmla="val 11111"/>
            </a:avLst>
          </a:prstGeom>
          <a:solidFill>
            <a:srgbClr val="334155">
              <a:alpha val="6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609344" y="1920240"/>
            <a:ext cx="329184" cy="822960"/>
          </a:xfrm>
          <a:prstGeom prst="roundRect">
            <a:avLst>
              <a:gd name="adj" fmla="val 11111"/>
            </a:avLst>
          </a:prstGeom>
          <a:solidFill>
            <a:srgbClr val="334155">
              <a:alpha val="6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2002536" y="1920240"/>
            <a:ext cx="329184" cy="822960"/>
          </a:xfrm>
          <a:prstGeom prst="roundRect">
            <a:avLst>
              <a:gd name="adj" fmla="val 11111"/>
            </a:avLst>
          </a:prstGeom>
          <a:solidFill>
            <a:srgbClr val="334155">
              <a:alpha val="6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2395728" y="1920240"/>
            <a:ext cx="329184" cy="822960"/>
          </a:xfrm>
          <a:prstGeom prst="roundRect">
            <a:avLst>
              <a:gd name="adj" fmla="val 11111"/>
            </a:avLst>
          </a:prstGeom>
          <a:solidFill>
            <a:srgbClr val="334155">
              <a:alpha val="6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2788920" y="1920240"/>
            <a:ext cx="329184" cy="822960"/>
          </a:xfrm>
          <a:prstGeom prst="roundRect">
            <a:avLst>
              <a:gd name="adj" fmla="val 11111"/>
            </a:avLst>
          </a:prstGeom>
          <a:solidFill>
            <a:srgbClr val="334155">
              <a:alpha val="6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3182112" y="1920240"/>
            <a:ext cx="329184" cy="822960"/>
          </a:xfrm>
          <a:prstGeom prst="roundRect">
            <a:avLst>
              <a:gd name="adj" fmla="val 11111"/>
            </a:avLst>
          </a:prstGeom>
          <a:solidFill>
            <a:srgbClr val="334155">
              <a:alpha val="6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3575304" y="1920240"/>
            <a:ext cx="329184" cy="822960"/>
          </a:xfrm>
          <a:prstGeom prst="roundRect">
            <a:avLst>
              <a:gd name="adj" fmla="val 11111"/>
            </a:avLst>
          </a:prstGeom>
          <a:solidFill>
            <a:srgbClr val="334155">
              <a:alpha val="6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3968496" y="1920240"/>
            <a:ext cx="329184" cy="822960"/>
          </a:xfrm>
          <a:prstGeom prst="roundRect">
            <a:avLst>
              <a:gd name="adj" fmla="val 11111"/>
            </a:avLst>
          </a:prstGeom>
          <a:solidFill>
            <a:srgbClr val="334155">
              <a:alpha val="6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4361688" y="1920240"/>
            <a:ext cx="329184" cy="822960"/>
          </a:xfrm>
          <a:prstGeom prst="roundRect">
            <a:avLst>
              <a:gd name="adj" fmla="val 11111"/>
            </a:avLst>
          </a:prstGeom>
          <a:solidFill>
            <a:srgbClr val="2DD4BF"/>
          </a:solidFill>
          <a:ln/>
        </p:spPr>
      </p:sp>
      <p:sp>
        <p:nvSpPr>
          <p:cNvPr id="14" name="Shape 12"/>
          <p:cNvSpPr/>
          <p:nvPr/>
        </p:nvSpPr>
        <p:spPr>
          <a:xfrm>
            <a:off x="4754880" y="1920240"/>
            <a:ext cx="329184" cy="822960"/>
          </a:xfrm>
          <a:prstGeom prst="roundRect">
            <a:avLst>
              <a:gd name="adj" fmla="val 11111"/>
            </a:avLst>
          </a:prstGeom>
          <a:solidFill>
            <a:srgbClr val="2DD4BF"/>
          </a:solidFill>
          <a:ln/>
        </p:spPr>
      </p:sp>
      <p:sp>
        <p:nvSpPr>
          <p:cNvPr id="15" name="Shape 13"/>
          <p:cNvSpPr/>
          <p:nvPr/>
        </p:nvSpPr>
        <p:spPr>
          <a:xfrm>
            <a:off x="5148072" y="1920240"/>
            <a:ext cx="329184" cy="822960"/>
          </a:xfrm>
          <a:prstGeom prst="roundRect">
            <a:avLst>
              <a:gd name="adj" fmla="val 11111"/>
            </a:avLst>
          </a:prstGeom>
          <a:solidFill>
            <a:srgbClr val="2DD4BF"/>
          </a:solidFill>
          <a:ln/>
        </p:spPr>
      </p:sp>
      <p:sp>
        <p:nvSpPr>
          <p:cNvPr id="16" name="Shape 14"/>
          <p:cNvSpPr/>
          <p:nvPr/>
        </p:nvSpPr>
        <p:spPr>
          <a:xfrm>
            <a:off x="5541264" y="1920240"/>
            <a:ext cx="329184" cy="822960"/>
          </a:xfrm>
          <a:prstGeom prst="roundRect">
            <a:avLst>
              <a:gd name="adj" fmla="val 11111"/>
            </a:avLst>
          </a:prstGeom>
          <a:solidFill>
            <a:srgbClr val="2DD4BF"/>
          </a:solidFill>
          <a:ln/>
        </p:spPr>
      </p:sp>
      <p:sp>
        <p:nvSpPr>
          <p:cNvPr id="17" name="Shape 15"/>
          <p:cNvSpPr/>
          <p:nvPr/>
        </p:nvSpPr>
        <p:spPr>
          <a:xfrm>
            <a:off x="5934456" y="1920240"/>
            <a:ext cx="329184" cy="822960"/>
          </a:xfrm>
          <a:prstGeom prst="roundRect">
            <a:avLst>
              <a:gd name="adj" fmla="val 11111"/>
            </a:avLst>
          </a:prstGeom>
          <a:solidFill>
            <a:srgbClr val="2DD4BF"/>
          </a:solidFill>
          <a:ln/>
        </p:spPr>
      </p:sp>
      <p:sp>
        <p:nvSpPr>
          <p:cNvPr id="18" name="Shape 16"/>
          <p:cNvSpPr/>
          <p:nvPr/>
        </p:nvSpPr>
        <p:spPr>
          <a:xfrm>
            <a:off x="6327648" y="1920240"/>
            <a:ext cx="329184" cy="822960"/>
          </a:xfrm>
          <a:prstGeom prst="roundRect">
            <a:avLst>
              <a:gd name="adj" fmla="val 11111"/>
            </a:avLst>
          </a:prstGeom>
          <a:solidFill>
            <a:srgbClr val="2DD4BF"/>
          </a:solidFill>
          <a:ln/>
        </p:spPr>
      </p:sp>
      <p:sp>
        <p:nvSpPr>
          <p:cNvPr id="19" name="Shape 17"/>
          <p:cNvSpPr/>
          <p:nvPr/>
        </p:nvSpPr>
        <p:spPr>
          <a:xfrm>
            <a:off x="6720840" y="1920240"/>
            <a:ext cx="329184" cy="822960"/>
          </a:xfrm>
          <a:prstGeom prst="roundRect">
            <a:avLst>
              <a:gd name="adj" fmla="val 11111"/>
            </a:avLst>
          </a:prstGeom>
          <a:solidFill>
            <a:srgbClr val="F4B942"/>
          </a:solidFill>
          <a:ln/>
        </p:spPr>
      </p:sp>
      <p:sp>
        <p:nvSpPr>
          <p:cNvPr id="20" name="Shape 18"/>
          <p:cNvSpPr/>
          <p:nvPr/>
        </p:nvSpPr>
        <p:spPr>
          <a:xfrm>
            <a:off x="7114032" y="1920240"/>
            <a:ext cx="329184" cy="822960"/>
          </a:xfrm>
          <a:prstGeom prst="roundRect">
            <a:avLst>
              <a:gd name="adj" fmla="val 11111"/>
            </a:avLst>
          </a:prstGeom>
          <a:solidFill>
            <a:srgbClr val="F4B942"/>
          </a:solidFill>
          <a:ln/>
        </p:spPr>
      </p:sp>
      <p:sp>
        <p:nvSpPr>
          <p:cNvPr id="21" name="Shape 19"/>
          <p:cNvSpPr/>
          <p:nvPr/>
        </p:nvSpPr>
        <p:spPr>
          <a:xfrm>
            <a:off x="7507224" y="1920240"/>
            <a:ext cx="329184" cy="822960"/>
          </a:xfrm>
          <a:prstGeom prst="roundRect">
            <a:avLst>
              <a:gd name="adj" fmla="val 11111"/>
            </a:avLst>
          </a:prstGeom>
          <a:solidFill>
            <a:srgbClr val="F4B942"/>
          </a:solidFill>
          <a:ln/>
        </p:spPr>
      </p:sp>
      <p:sp>
        <p:nvSpPr>
          <p:cNvPr id="22" name="Shape 20"/>
          <p:cNvSpPr/>
          <p:nvPr/>
        </p:nvSpPr>
        <p:spPr>
          <a:xfrm>
            <a:off x="7900416" y="1920240"/>
            <a:ext cx="329184" cy="822960"/>
          </a:xfrm>
          <a:prstGeom prst="roundRect">
            <a:avLst>
              <a:gd name="adj" fmla="val 11111"/>
            </a:avLst>
          </a:prstGeom>
          <a:solidFill>
            <a:srgbClr val="F4B942"/>
          </a:solidFill>
          <a:ln/>
        </p:spPr>
      </p:sp>
      <p:sp>
        <p:nvSpPr>
          <p:cNvPr id="23" name="Shape 21"/>
          <p:cNvSpPr/>
          <p:nvPr/>
        </p:nvSpPr>
        <p:spPr>
          <a:xfrm>
            <a:off x="8293608" y="1920240"/>
            <a:ext cx="329184" cy="822960"/>
          </a:xfrm>
          <a:prstGeom prst="roundRect">
            <a:avLst>
              <a:gd name="adj" fmla="val 11111"/>
            </a:avLst>
          </a:prstGeom>
          <a:solidFill>
            <a:srgbClr val="F4B942"/>
          </a:solidFill>
          <a:ln/>
        </p:spPr>
      </p:sp>
      <p:sp>
        <p:nvSpPr>
          <p:cNvPr id="24" name="Shape 22"/>
          <p:cNvSpPr/>
          <p:nvPr/>
        </p:nvSpPr>
        <p:spPr>
          <a:xfrm>
            <a:off x="8686800" y="1920240"/>
            <a:ext cx="329184" cy="822960"/>
          </a:xfrm>
          <a:prstGeom prst="roundRect">
            <a:avLst>
              <a:gd name="adj" fmla="val 11111"/>
            </a:avLst>
          </a:prstGeom>
          <a:solidFill>
            <a:srgbClr val="F4B942"/>
          </a:solidFill>
          <a:ln/>
        </p:spPr>
      </p:sp>
      <p:sp>
        <p:nvSpPr>
          <p:cNvPr id="25" name="Shape 23"/>
          <p:cNvSpPr/>
          <p:nvPr/>
        </p:nvSpPr>
        <p:spPr>
          <a:xfrm>
            <a:off x="9079992" y="1920240"/>
            <a:ext cx="329184" cy="822960"/>
          </a:xfrm>
          <a:prstGeom prst="roundRect">
            <a:avLst>
              <a:gd name="adj" fmla="val 11111"/>
            </a:avLst>
          </a:prstGeom>
          <a:solidFill>
            <a:srgbClr val="5EEAD4"/>
          </a:solidFill>
          <a:ln/>
        </p:spPr>
      </p:sp>
      <p:sp>
        <p:nvSpPr>
          <p:cNvPr id="26" name="Shape 24"/>
          <p:cNvSpPr/>
          <p:nvPr/>
        </p:nvSpPr>
        <p:spPr>
          <a:xfrm>
            <a:off x="9473184" y="1920240"/>
            <a:ext cx="329184" cy="822960"/>
          </a:xfrm>
          <a:prstGeom prst="roundRect">
            <a:avLst>
              <a:gd name="adj" fmla="val 11111"/>
            </a:avLst>
          </a:prstGeom>
          <a:solidFill>
            <a:srgbClr val="5EEAD4"/>
          </a:solidFill>
          <a:ln/>
        </p:spPr>
      </p:sp>
      <p:sp>
        <p:nvSpPr>
          <p:cNvPr id="27" name="Shape 25"/>
          <p:cNvSpPr/>
          <p:nvPr/>
        </p:nvSpPr>
        <p:spPr>
          <a:xfrm>
            <a:off x="9866376" y="1920240"/>
            <a:ext cx="329184" cy="822960"/>
          </a:xfrm>
          <a:prstGeom prst="roundRect">
            <a:avLst>
              <a:gd name="adj" fmla="val 11111"/>
            </a:avLst>
          </a:prstGeom>
          <a:solidFill>
            <a:srgbClr val="5EEAD4"/>
          </a:solidFill>
          <a:ln/>
        </p:spPr>
      </p:sp>
      <p:sp>
        <p:nvSpPr>
          <p:cNvPr id="28" name="Shape 26"/>
          <p:cNvSpPr/>
          <p:nvPr/>
        </p:nvSpPr>
        <p:spPr>
          <a:xfrm>
            <a:off x="10259568" y="1920240"/>
            <a:ext cx="329184" cy="822960"/>
          </a:xfrm>
          <a:prstGeom prst="roundRect">
            <a:avLst>
              <a:gd name="adj" fmla="val 11111"/>
            </a:avLst>
          </a:prstGeom>
          <a:solidFill>
            <a:srgbClr val="5EEAD4"/>
          </a:solidFill>
          <a:ln/>
        </p:spPr>
      </p:sp>
      <p:sp>
        <p:nvSpPr>
          <p:cNvPr id="29" name="Shape 27"/>
          <p:cNvSpPr/>
          <p:nvPr/>
        </p:nvSpPr>
        <p:spPr>
          <a:xfrm>
            <a:off x="10652760" y="1920240"/>
            <a:ext cx="329184" cy="822960"/>
          </a:xfrm>
          <a:prstGeom prst="roundRect">
            <a:avLst>
              <a:gd name="adj" fmla="val 11111"/>
            </a:avLst>
          </a:prstGeom>
          <a:solidFill>
            <a:srgbClr val="5EEAD4"/>
          </a:solidFill>
          <a:ln/>
        </p:spPr>
      </p:sp>
      <p:sp>
        <p:nvSpPr>
          <p:cNvPr id="30" name="Shape 28"/>
          <p:cNvSpPr/>
          <p:nvPr/>
        </p:nvSpPr>
        <p:spPr>
          <a:xfrm>
            <a:off x="11045952" y="1920240"/>
            <a:ext cx="329184" cy="822960"/>
          </a:xfrm>
          <a:prstGeom prst="roundRect">
            <a:avLst>
              <a:gd name="adj" fmla="val 11111"/>
            </a:avLst>
          </a:prstGeom>
          <a:solidFill>
            <a:srgbClr val="5EEAD4"/>
          </a:solidFill>
          <a:ln/>
        </p:spPr>
      </p:sp>
      <p:sp>
        <p:nvSpPr>
          <p:cNvPr id="31" name="Text 29"/>
          <p:cNvSpPr/>
          <p:nvPr/>
        </p:nvSpPr>
        <p:spPr>
          <a:xfrm>
            <a:off x="822960" y="288036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Convoyage            ·            Malaxage / cisaillement            ·            Restriction            ·            Pompage filière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822960" y="3657600"/>
            <a:ext cx="3383280" cy="2194560"/>
          </a:xfrm>
          <a:prstGeom prst="roundRect">
            <a:avLst>
              <a:gd name="adj" fmla="val 3333"/>
            </a:avLst>
          </a:prstGeom>
          <a:solidFill>
            <a:srgbClr val="1C232E"/>
          </a:solidFill>
          <a:ln w="9525">
            <a:solidFill>
              <a:srgbClr val="2A344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22960" y="3977640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4800" dirty="0"/>
          </a:p>
        </p:txBody>
      </p:sp>
      <p:sp>
        <p:nvSpPr>
          <p:cNvPr id="34" name="Text 32"/>
          <p:cNvSpPr/>
          <p:nvPr/>
        </p:nvSpPr>
        <p:spPr>
          <a:xfrm>
            <a:off x="822960" y="484632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8B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d'éléments de vis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8B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(bibliothèque machine réelle)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4407408" y="3657600"/>
            <a:ext cx="3383280" cy="2194560"/>
          </a:xfrm>
          <a:prstGeom prst="roundRect">
            <a:avLst>
              <a:gd name="adj" fmla="val 3333"/>
            </a:avLst>
          </a:prstGeom>
          <a:solidFill>
            <a:srgbClr val="1C232E"/>
          </a:solidFill>
          <a:ln w="9525">
            <a:solidFill>
              <a:srgbClr val="2A344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407408" y="3977640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800" dirty="0"/>
          </a:p>
        </p:txBody>
      </p:sp>
      <p:sp>
        <p:nvSpPr>
          <p:cNvPr id="37" name="Text 35"/>
          <p:cNvSpPr/>
          <p:nvPr/>
        </p:nvSpPr>
        <p:spPr>
          <a:xfrm>
            <a:off x="4407408" y="484632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8B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indicateurs procédé par config :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8B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remplissage, résidence, volumes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7991856" y="3657600"/>
            <a:ext cx="3383280" cy="2194560"/>
          </a:xfrm>
          <a:prstGeom prst="roundRect">
            <a:avLst>
              <a:gd name="adj" fmla="val 3333"/>
            </a:avLst>
          </a:prstGeom>
          <a:solidFill>
            <a:srgbClr val="1C232E"/>
          </a:solidFill>
          <a:ln w="9525">
            <a:solidFill>
              <a:srgbClr val="2A344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991856" y="3977640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1×</a:t>
            </a:r>
            <a:endParaRPr lang="en-US" sz="4800" dirty="0"/>
          </a:p>
        </p:txBody>
      </p:sp>
      <p:sp>
        <p:nvSpPr>
          <p:cNvPr id="40" name="Text 38"/>
          <p:cNvSpPr/>
          <p:nvPr/>
        </p:nvSpPr>
        <p:spPr>
          <a:xfrm>
            <a:off x="7991856" y="484632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8B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seul calcul du réseau,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8B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réutilisé par toutes les couches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AF2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physique embarquée — nominale, honnête, traçable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7899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équation est documentée ; ce qui n'est pas calibré est annoncé comme tel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49240" cy="1920240"/>
          </a:xfrm>
          <a:prstGeom prst="roundRect">
            <a:avLst>
              <a:gd name="adj" fmla="val 3810"/>
            </a:avLst>
          </a:prstGeom>
          <a:solidFill>
            <a:srgbClr val="1C232E"/>
          </a:solidFill>
          <a:ln w="9525">
            <a:solidFill>
              <a:srgbClr val="2A344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05740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Viscosité locale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68680" y="251460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A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η(γ̇, T) — modèle Carreau-Yasuda couplé à une loi d'Arrhenius, presets rhéologiques par matière (LFP, LATP, liants)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63640" y="1828800"/>
            <a:ext cx="5349240" cy="1920240"/>
          </a:xfrm>
          <a:prstGeom prst="roundRect">
            <a:avLst>
              <a:gd name="adj" fmla="val 3810"/>
            </a:avLst>
          </a:prstGeom>
          <a:solidFill>
            <a:srgbClr val="1C232E"/>
          </a:solidFill>
          <a:ln w="9525">
            <a:solidFill>
              <a:srgbClr val="2A344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0" y="205740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Couple local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583680" y="251460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A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= η·γ̇²·V_rempli / (2πN) — calculé nœud par nœud le long de la vis, agrégé par zone puis machine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3977640"/>
            <a:ext cx="5349240" cy="1920240"/>
          </a:xfrm>
          <a:prstGeom prst="roundRect">
            <a:avLst>
              <a:gd name="adj" fmla="val 3810"/>
            </a:avLst>
          </a:prstGeom>
          <a:solidFill>
            <a:srgbClr val="1C232E"/>
          </a:solidFill>
          <a:ln w="9525">
            <a:solidFill>
              <a:srgbClr val="2A344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420624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Thermique procédé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68680" y="466344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A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T_réel = T_consigne + (2πN·M)/(ṁ·Cp) + k·τ — équation imposée par l'encadrant industriel, auto-échauffement par cisaillement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263640" y="3977640"/>
            <a:ext cx="5349240" cy="1920240"/>
          </a:xfrm>
          <a:prstGeom prst="roundRect">
            <a:avLst>
              <a:gd name="adj" fmla="val 3810"/>
            </a:avLst>
          </a:prstGeom>
          <a:solidFill>
            <a:srgbClr val="1C232E"/>
          </a:solidFill>
          <a:ln w="9525">
            <a:solidFill>
              <a:srgbClr val="2A344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0" y="420624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Frontière assumée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583680" y="466344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A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Pression filière et SME par nœud volontairement non codés (« À venir ») : pas de faux chiffres industriels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AF2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agent IA explicable — pas une boîte noire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7899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alerte cite ses preuves ; chaque recommandation est chiffrée et actionnable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2468880" cy="1417320"/>
          </a:xfrm>
          <a:prstGeom prst="roundRect">
            <a:avLst>
              <a:gd name="adj" fmla="val 5161"/>
            </a:avLst>
          </a:prstGeom>
          <a:solidFill>
            <a:srgbClr val="1C232E"/>
          </a:solidFill>
          <a:ln w="9525">
            <a:solidFill>
              <a:srgbClr val="2A344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2057400"/>
            <a:ext cx="2194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A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État procédé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EA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(capteurs + moteur)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127248" y="228600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611880" y="1920240"/>
            <a:ext cx="2468880" cy="1417320"/>
          </a:xfrm>
          <a:prstGeom prst="roundRect">
            <a:avLst>
              <a:gd name="adj" fmla="val 5161"/>
            </a:avLst>
          </a:prstGeom>
          <a:solidFill>
            <a:srgbClr val="1C232E"/>
          </a:solidFill>
          <a:ln w="9525">
            <a:solidFill>
              <a:srgbClr val="2A344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749040" y="2057400"/>
            <a:ext cx="2194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A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Règles métier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EA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099048" y="228600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6583680" y="1920240"/>
            <a:ext cx="2468880" cy="1417320"/>
          </a:xfrm>
          <a:prstGeom prst="roundRect">
            <a:avLst>
              <a:gd name="adj" fmla="val 5161"/>
            </a:avLst>
          </a:prstGeom>
          <a:solidFill>
            <a:srgbClr val="1C232E"/>
          </a:solidFill>
          <a:ln w="9525">
            <a:solidFill>
              <a:srgbClr val="2A344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20840" y="2057400"/>
            <a:ext cx="2194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A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Alertes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EA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hiérarchisées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070848" y="228600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9555480" y="1920240"/>
            <a:ext cx="2468880" cy="1417320"/>
          </a:xfrm>
          <a:prstGeom prst="roundRect">
            <a:avLst>
              <a:gd name="adj" fmla="val 5161"/>
            </a:avLst>
          </a:prstGeom>
          <a:solidFill>
            <a:srgbClr val="1C232E"/>
          </a:solidFill>
          <a:ln w="9525">
            <a:solidFill>
              <a:srgbClr val="2A344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92640" y="2057400"/>
            <a:ext cx="2194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A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Recommandations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EA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chiffrées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0080" y="3794760"/>
            <a:ext cx="10972800" cy="2240280"/>
          </a:xfrm>
          <a:prstGeom prst="roundRect">
            <a:avLst>
              <a:gd name="adj" fmla="val 3265"/>
            </a:avLst>
          </a:prstGeom>
          <a:solidFill>
            <a:srgbClr val="1C232E"/>
          </a:solidFill>
          <a:ln w="9525">
            <a:solidFill>
              <a:srgbClr val="2A344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402336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 réel d'explication produite :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60120" y="4434840"/>
            <a:ext cx="10332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 Zone 4 : température mesurée 178 °C au-dessus du seuil configuré (170 °C).</a:t>
            </a:r>
            <a:endParaRPr lang="en-US" sz="1600" dirty="0"/>
          </a:p>
          <a:p>
            <a:pPr indent="0" marL="0">
              <a:buNone/>
            </a:pPr>
            <a:r>
              <a:rPr lang="en-US" sz="1600" i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Cause probable : auto-échauffement lié au bloc de malaxage en position 34–41.</a:t>
            </a:r>
            <a:endParaRPr lang="en-US" sz="1600" dirty="0"/>
          </a:p>
          <a:p>
            <a:pPr indent="0" marL="0">
              <a:buNone/>
            </a:pPr>
            <a:r>
              <a:rPr lang="en-US" sz="1600" i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Recommandation : réduire la vitesse vis de 220 → 190 tr/min ou abaisser la consigne Z4 de 5 °C. »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AF2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données : d'une campagne réelle à une base exploitable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7899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Essais Rondol du 07 au 13 avril 2026 — puis consolidation statistiquement calibrée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66160" cy="4206240"/>
          </a:xfrm>
          <a:prstGeom prst="roundRect">
            <a:avLst>
              <a:gd name="adj" fmla="val 2051"/>
            </a:avLst>
          </a:prstGeom>
          <a:solidFill>
            <a:srgbClr val="1C232E"/>
          </a:solidFill>
          <a:ln w="9525">
            <a:solidFill>
              <a:srgbClr val="2A344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14884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52 064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548640" y="301752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8B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lignes brutes · 12 capteurs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8B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10 s · 6 jours d'essais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68680" y="3977640"/>
            <a:ext cx="2971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Acquisition fragmentée : 10 à 16 % de couverture par capteur, codes d'erreur thermocouple, doublons DIE/CastFilm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206240" y="3383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4937760" y="1783080"/>
            <a:ext cx="3291840" cy="4206240"/>
          </a:xfrm>
          <a:prstGeom prst="roundRect">
            <a:avLst>
              <a:gd name="adj" fmla="val 2222"/>
            </a:avLst>
          </a:prstGeom>
          <a:solidFill>
            <a:srgbClr val="1C232E"/>
          </a:solidFill>
          <a:ln w="9525">
            <a:solidFill>
              <a:srgbClr val="2A344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214884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798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4937760" y="301752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8B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fenêtres de 60 s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8B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 features statistiques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257800" y="3977640"/>
            <a:ext cx="2697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reproductible : fusion, segmentation en runs, extraction mean/std/min/max/pente/IQR par zone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366760" y="3383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9006840" y="1783080"/>
            <a:ext cx="2651760" cy="4206240"/>
          </a:xfrm>
          <a:prstGeom prst="roundRect">
            <a:avLst>
              <a:gd name="adj" fmla="val 2759"/>
            </a:avLst>
          </a:prstGeom>
          <a:solidFill>
            <a:srgbClr val="1C232E"/>
          </a:solidFill>
          <a:ln w="9525">
            <a:solidFill>
              <a:srgbClr val="2A344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006840" y="214884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100 800</a:t>
            </a:r>
            <a:endParaRPr lang="en-US" sz="4800" dirty="0"/>
          </a:p>
        </p:txBody>
      </p:sp>
      <p:sp>
        <p:nvSpPr>
          <p:cNvPr id="16" name="Text 14"/>
          <p:cNvSpPr/>
          <p:nvPr/>
        </p:nvSpPr>
        <p:spPr>
          <a:xfrm>
            <a:off x="9006840" y="301752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8B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lignes consolidées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8B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variables procédé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9281160" y="3977640"/>
            <a:ext cx="2148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continue calibrée sur le réel : phases, recettes, outliers rares, manquants réalistes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AF2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pipeline Machine Learning — rigueur avant performance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7899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par runs (GroupShuffleSplit) : aucune fuite temporelle entre train et test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2103120" cy="2286000"/>
          </a:xfrm>
          <a:prstGeom prst="roundRect">
            <a:avLst>
              <a:gd name="adj" fmla="val 3478"/>
            </a:avLst>
          </a:prstGeom>
          <a:solidFill>
            <a:srgbClr val="1C232E"/>
          </a:solidFill>
          <a:ln w="9525">
            <a:solidFill>
              <a:srgbClr val="2A344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62456" y="2331720"/>
            <a:ext cx="475488" cy="475488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6" name="Text 4"/>
          <p:cNvSpPr/>
          <p:nvPr/>
        </p:nvSpPr>
        <p:spPr>
          <a:xfrm>
            <a:off x="1362456" y="23134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9718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Fenêtrage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338328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A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s glissantes,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EA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stable / instable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907792" y="2103120"/>
            <a:ext cx="2103120" cy="2286000"/>
          </a:xfrm>
          <a:prstGeom prst="roundRect">
            <a:avLst>
              <a:gd name="adj" fmla="val 3478"/>
            </a:avLst>
          </a:prstGeom>
          <a:solidFill>
            <a:srgbClr val="1C232E"/>
          </a:solidFill>
          <a:ln w="9525">
            <a:solidFill>
              <a:srgbClr val="2A34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721608" y="2331720"/>
            <a:ext cx="475488" cy="475488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1" name="Text 9"/>
          <p:cNvSpPr/>
          <p:nvPr/>
        </p:nvSpPr>
        <p:spPr>
          <a:xfrm>
            <a:off x="3721608" y="23134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999232" y="29718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999232" y="338328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A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 statistiques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EA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fenêtre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266944" y="2103120"/>
            <a:ext cx="2103120" cy="2286000"/>
          </a:xfrm>
          <a:prstGeom prst="roundRect">
            <a:avLst>
              <a:gd name="adj" fmla="val 3478"/>
            </a:avLst>
          </a:prstGeom>
          <a:solidFill>
            <a:srgbClr val="1C232E"/>
          </a:solidFill>
          <a:ln w="9525">
            <a:solidFill>
              <a:srgbClr val="2A344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80760" y="2331720"/>
            <a:ext cx="475488" cy="475488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6" name="Text 14"/>
          <p:cNvSpPr/>
          <p:nvPr/>
        </p:nvSpPr>
        <p:spPr>
          <a:xfrm>
            <a:off x="6080760" y="23134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358384" y="29718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358384" y="338328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A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RandomForest, XGBoost,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EA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— comparés en CV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626096" y="2103120"/>
            <a:ext cx="2103120" cy="2286000"/>
          </a:xfrm>
          <a:prstGeom prst="roundRect">
            <a:avLst>
              <a:gd name="adj" fmla="val 3478"/>
            </a:avLst>
          </a:prstGeom>
          <a:solidFill>
            <a:srgbClr val="1C232E"/>
          </a:solidFill>
          <a:ln w="9525">
            <a:solidFill>
              <a:srgbClr val="2A344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439912" y="2331720"/>
            <a:ext cx="475488" cy="475488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21" name="Text 19"/>
          <p:cNvSpPr/>
          <p:nvPr/>
        </p:nvSpPr>
        <p:spPr>
          <a:xfrm>
            <a:off x="8439912" y="23134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717536" y="29718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717536" y="338328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A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seuil d'alerte optimisé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EA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(coût des faux négatifs)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9985248" y="2103120"/>
            <a:ext cx="2103120" cy="2286000"/>
          </a:xfrm>
          <a:prstGeom prst="roundRect">
            <a:avLst>
              <a:gd name="adj" fmla="val 3478"/>
            </a:avLst>
          </a:prstGeom>
          <a:solidFill>
            <a:srgbClr val="1C232E"/>
          </a:solidFill>
          <a:ln w="9525">
            <a:solidFill>
              <a:srgbClr val="2A344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799064" y="2331720"/>
            <a:ext cx="475488" cy="475488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26" name="Text 24"/>
          <p:cNvSpPr/>
          <p:nvPr/>
        </p:nvSpPr>
        <p:spPr>
          <a:xfrm>
            <a:off x="10799064" y="23134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0076688" y="29718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Robustesse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0076688" y="338328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A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seeds, écart-type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EA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contrôlé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22960" y="49377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i="1" dirty="0">
                <a:solidFill>
                  <a:srgbClr val="8B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Choix méthodologique clé : le découpage train/test se fait par run d'essai, jamais par fenêtre — un modèle qui a « vu » un run ne peut pas être testé dessus.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AF2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Résultats : RandomForest retenu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7899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Jeu de test : 340 fenêtres issues de 3 runs jamais vus à l'entraînement — SVM conservé comme challenger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737360"/>
          <a:ext cx="694944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863840" y="1737360"/>
            <a:ext cx="3794760" cy="2011680"/>
          </a:xfrm>
          <a:prstGeom prst="roundRect">
            <a:avLst>
              <a:gd name="adj" fmla="val 3636"/>
            </a:avLst>
          </a:prstGeom>
          <a:solidFill>
            <a:srgbClr val="1C232E"/>
          </a:solidFill>
          <a:ln w="9525">
            <a:solidFill>
              <a:srgbClr val="2A344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863840" y="201168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0.918</a:t>
            </a:r>
            <a:endParaRPr lang="en-US" sz="4800" dirty="0"/>
          </a:p>
        </p:txBody>
      </p:sp>
      <p:sp>
        <p:nvSpPr>
          <p:cNvPr id="7" name="Text 4"/>
          <p:cNvSpPr/>
          <p:nvPr/>
        </p:nvSpPr>
        <p:spPr>
          <a:xfrm>
            <a:off x="7863840" y="2880360"/>
            <a:ext cx="3794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8B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F1-macro (± 0,054) en validation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8B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augmentée sur essais non vus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7863840" y="4023360"/>
            <a:ext cx="3794760" cy="2011680"/>
          </a:xfrm>
          <a:prstGeom prst="roundRect">
            <a:avLst>
              <a:gd name="adj" fmla="val 3636"/>
            </a:avLst>
          </a:prstGeom>
          <a:solidFill>
            <a:srgbClr val="1C232E"/>
          </a:solidFill>
          <a:ln w="9525">
            <a:solidFill>
              <a:srgbClr val="2A344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863840" y="4224528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RandomForest ?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183880" y="461772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A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Meilleure généralisation mesurée honnêtement, importance des variables lisible par le métier, tolérance aux capteurs manquants.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AF2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L'application : une HMI industrielle, pas un dashboard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7899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pages, bilingue FR/EN, persistance 3 couches (édition → validé → historique)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1C232E"/>
          </a:solidFill>
          <a:ln w="9525">
            <a:solidFill>
              <a:srgbClr val="2A344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02996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Supervision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822960" y="2450592"/>
            <a:ext cx="3063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de stabilité ML, probabilité de dérive, alertes et recommandations IA en direct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70832" y="1828800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1C232E"/>
          </a:solidFill>
          <a:ln w="9525">
            <a:solidFill>
              <a:srgbClr val="2A344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45152" y="202996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vis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4645152" y="2450592"/>
            <a:ext cx="3063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 du profil 81 positions, KPIs procédé recalculés à chaque geste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193024" y="1828800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1C232E"/>
          </a:solidFill>
          <a:ln w="9525">
            <a:solidFill>
              <a:srgbClr val="2A344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67344" y="202996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Paramètres IA &amp; feeders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8467344" y="2450592"/>
            <a:ext cx="3063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seuils, matières, calibration doseurs — rien n'impacte la supervision avant validation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4023360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1C232E"/>
          </a:solidFill>
          <a:ln w="9525">
            <a:solidFill>
              <a:srgbClr val="2A344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422452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de run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822960" y="4645152"/>
            <a:ext cx="3063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relecture temporelle d'une production : fenêtres, score, profil thermique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370832" y="4023360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1C232E"/>
          </a:solidFill>
          <a:ln w="9525">
            <a:solidFill>
              <a:srgbClr val="2A344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45152" y="422452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Historique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4645152" y="4645152"/>
            <a:ext cx="3063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configuration validée est figée avec ses KPIs — traçabilité R&amp;D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193024" y="4023360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1C232E"/>
          </a:solidFill>
          <a:ln w="9525">
            <a:solidFill>
              <a:srgbClr val="2A344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67344" y="422452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Moteur procédé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8467344" y="4645152"/>
            <a:ext cx="3063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transparente de la physique : chaque nombre affiché est justifiable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AF2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Piloter le projet comme un chef de projet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7899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Méthode itérative courte, jalons tenus, risques suivis — troisième volet du triptyque DIA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49240" cy="1920240"/>
          </a:xfrm>
          <a:prstGeom prst="roundRect">
            <a:avLst>
              <a:gd name="adj" fmla="val 3810"/>
            </a:avLst>
          </a:prstGeom>
          <a:solidFill>
            <a:srgbClr val="1C232E"/>
          </a:solidFill>
          <a:ln w="9525">
            <a:solidFill>
              <a:srgbClr val="2A344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075688"/>
            <a:ext cx="402336" cy="402336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0574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17320" y="205740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Méthode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868680" y="256032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Itérations courtes type agile : proposition → validation encadrant → développement → tests → démo. Chaque brique validée avant la suivante.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3640" y="1828800"/>
            <a:ext cx="5349240" cy="1920240"/>
          </a:xfrm>
          <a:prstGeom prst="roundRect">
            <a:avLst>
              <a:gd name="adj" fmla="val 3810"/>
            </a:avLst>
          </a:prstGeom>
          <a:solidFill>
            <a:srgbClr val="1C232E"/>
          </a:solidFill>
          <a:ln w="9525">
            <a:solidFill>
              <a:srgbClr val="2A34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37960" y="2075688"/>
            <a:ext cx="402336" cy="402336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20574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132320" y="205740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Jalons tenus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6583680" y="256032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Campagne d'essais (avril) · bascule du modèle retenu · démonstration manager du 16 juin · gel des livrables avant soutenance.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977640"/>
            <a:ext cx="5349240" cy="1920240"/>
          </a:xfrm>
          <a:prstGeom prst="roundRect">
            <a:avLst>
              <a:gd name="adj" fmla="val 3810"/>
            </a:avLst>
          </a:prstGeom>
          <a:solidFill>
            <a:srgbClr val="1C232E"/>
          </a:solidFill>
          <a:ln w="9525">
            <a:solidFill>
              <a:srgbClr val="2A344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4224528"/>
            <a:ext cx="402336" cy="402336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2062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17320" y="420624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Risques pilotés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868680" y="470916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insuffisantes → génération simulée documentée · dérive de périmètre → zones protégées du code · incidents prod → figés en tests de non-régression.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63640" y="3977640"/>
            <a:ext cx="5349240" cy="1920240"/>
          </a:xfrm>
          <a:prstGeom prst="roundRect">
            <a:avLst>
              <a:gd name="adj" fmla="val 3810"/>
            </a:avLst>
          </a:prstGeom>
          <a:solidFill>
            <a:srgbClr val="1C232E"/>
          </a:solidFill>
          <a:ln w="9525">
            <a:solidFill>
              <a:srgbClr val="2A344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37960" y="4224528"/>
            <a:ext cx="402336" cy="402336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21" name="Text 19"/>
          <p:cNvSpPr/>
          <p:nvPr/>
        </p:nvSpPr>
        <p:spPr>
          <a:xfrm>
            <a:off x="6537960" y="42062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132320" y="420624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Qualité &amp; veille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6583680" y="470916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694 tests automatisés en CI · veille scientifique (extrusion, SSB, ML industriel) alimentant l'état de l'art et les choix technologiques.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AF2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prototype vérifié comme un produit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7899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Qualité logicielle au service de la crédibilité scientifique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3383280" cy="2377440"/>
          </a:xfrm>
          <a:prstGeom prst="roundRect">
            <a:avLst>
              <a:gd name="adj" fmla="val 3077"/>
            </a:avLst>
          </a:prstGeom>
          <a:solidFill>
            <a:srgbClr val="1C232E"/>
          </a:solidFill>
          <a:ln w="9525">
            <a:solidFill>
              <a:srgbClr val="2A344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331720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694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822960" y="320040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8B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automatisés,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8B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100 % au vert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407408" y="1920240"/>
            <a:ext cx="3383280" cy="2377440"/>
          </a:xfrm>
          <a:prstGeom prst="roundRect">
            <a:avLst>
              <a:gd name="adj" fmla="val 3077"/>
            </a:avLst>
          </a:prstGeom>
          <a:solidFill>
            <a:srgbClr val="1C232E"/>
          </a:solidFill>
          <a:ln w="9525">
            <a:solidFill>
              <a:srgbClr val="2A344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07408" y="2331720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4407408" y="320040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8B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couches de persistance —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8B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l'opérateur ne perd jamais rien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991856" y="1920240"/>
            <a:ext cx="3383280" cy="2377440"/>
          </a:xfrm>
          <a:prstGeom prst="roundRect">
            <a:avLst>
              <a:gd name="adj" fmla="val 3077"/>
            </a:avLst>
          </a:prstGeom>
          <a:solidFill>
            <a:srgbClr val="1C232E"/>
          </a:solidFill>
          <a:ln w="9525">
            <a:solidFill>
              <a:srgbClr val="2A344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91856" y="2331720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7991856" y="320040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8B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langues (FR/EN), zéro fuite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8B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libellé vérifiée par test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097280" y="475488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8B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d'intégration Streamlit (AppTest), tests E2E du cycle enregistrer → recharger → superviser, invariants d'import du moteur, pipeline ML reproductible en CI.</a:t>
            </a:r>
            <a:endParaRPr lang="en-US" sz="14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377440" y="4023360"/>
            <a:ext cx="5852160" cy="5852160"/>
          </a:xfrm>
          <a:prstGeom prst="ellipse">
            <a:avLst/>
          </a:prstGeom>
          <a:solidFill>
            <a:srgbClr val="1C232E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0058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CE PROJET DÉMONTRE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1463040"/>
            <a:ext cx="10607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AF2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procédé complexe peut devenir lisible,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EAF2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comparable et prédictible — sans boîte noire.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822960" y="324612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291840" y="3246120"/>
            <a:ext cx="8138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A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Jumeau numérique opérationnel · agent IA explicable · modèle ML validé sur runs inédits (0.950) · outil démontrable client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429768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 assumées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291840" y="4297680"/>
            <a:ext cx="8138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A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Physique nominale non calibrée industriellement · dataset d'une seule campagne · pression filière non modélisée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534924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Perspectives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291840" y="5349240"/>
            <a:ext cx="8138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A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sur campagnes futures · équations E5–E7 · apprentissage en ligne sur la base consolidée · déploiement atelier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617220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8B99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Merci — place à la démonstration.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2026-07-17T13:15:40Z</dcterms:created>
  <dcterms:modified xsi:type="dcterms:W3CDTF">2026-07-17T13:15:40Z</dcterms:modified>
</cp:coreProperties>
</file>
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2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RandomForest</c:v>
                  </c:pt>
                  <c:pt idx="1">
                    <c:v>SVM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0.95</c:v>
                </c:pt>
                <c:pt idx="1">
                  <c:v>0.953</c:v>
                </c:pt>
                <c:pt idx="2">
                  <c:v>0.882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macro</c:v>
                </c:pt>
              </c:strCache>
            </c:strRef>
          </c:tx>
          <c:spPr>
            <a:solidFill>
              <a:srgbClr val="33415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2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RandomForest</c:v>
                  </c:pt>
                  <c:pt idx="1">
                    <c:v>SVM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0.917</c:v>
                </c:pt>
                <c:pt idx="1">
                  <c:v>0.916</c:v>
                </c:pt>
                <c:pt idx="2">
                  <c:v>0.827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EAF2F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AF2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2A344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9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8B99A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: une extrudeuse de laboratoire, un procédé encore instable, et la question — peut-on prédire la dérive avant qu'elle ne coûte un essai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Principe fondateur : le réseau de calcul géométrique n'est exécuté qu'une fois ; toutes les couches supérieures l'enveloppent. Zéro duplication de physique.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2194560"/>
            <a:ext cx="5852160" cy="5852160"/>
          </a:xfrm>
          <a:prstGeom prst="ellipse">
            <a:avLst/>
          </a:prstGeom>
          <a:solidFill>
            <a:srgbClr val="1C232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4023360" cy="4023360"/>
          </a:xfrm>
          <a:prstGeom prst="ellipse">
            <a:avLst/>
          </a:prstGeom>
          <a:solidFill>
            <a:srgbClr val="222D3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THÈSE PROFESSIONNELLE · MASTÈRE 2 DATA &amp; IA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Jumeau numérique prédictif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 l'extrusion bivis Rondol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procédé, agent IA explicable et Machine Learning appliqués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l'extrusion de composants de batteries tout-solide (voie sèche / semi-sèche)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Wilfried MBEUMI</a:t>
            </a:r>
            <a:pPr indent="0" marL="0">
              <a:buNone/>
            </a:pPr>
            <a:r>
              <a:rPr lang="en-US" sz="14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Encadrement industriel : Maël Gallas (Rondol)   · 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contexte : batteries tout-solide, procédé encore jeune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Rondol — extrudeuse bivis Ø 10,5 mm, R&amp;D lithium (LFP / LATP)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39696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21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8928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industriel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L'extrusion sèche/semi-sèche évite les solvants toxiques (NMP) et réduit le coût énergétique des électrodes — mais le procédé est difficile à stabiliser.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64408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712464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694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346557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de laboratoire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8587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Extrudeuse bivis corotative Rondol : 81 positions de vis, 13 types d'éléments, 8 zones thermiques + filière — chaque essai est coûteux en matière active.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83717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5285232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52669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503834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manque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543153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d'outil reliant configuration de vis, physique du procédé et données capteurs pour anticiper les dérives et raisonner avant d'essayer.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problématique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005840" y="155448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Comment construire un outil d'aide à la décision qui rende un procédé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i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d'extrusion bivis lisible, comparable et prédictible — sans boîte noire ? 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de vis à configurer,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espace combinatoire immense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7408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407408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de température,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brute non exploitée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91856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991856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 existant reliant géométrie,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et données machine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architecture en couches : envelopper, ne pas recalculer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couche est pure et testée ; la géométrie de vis est l'unique source de vérité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039112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9110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industrielle (Streamlit)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286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· Configuration vis · Paramètres IA · Analyse de run · Historique · Moteur procédé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53512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3209544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0815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 explicable + Modèle ML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34564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métier → alertes &amp; recommandations chiffrées · RandomForest → score de stabilité, probabilité de dérive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123944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379976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99F6E4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251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physique (engine/)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462686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Viscosité Carreau-Yasuda + Arrhenius · couple local E4 · équation thermique manager · agrégats zone/machine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5550408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CCFBF1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542239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géométrique (screw_logic)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579729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7 : remplissage, débit volumique, temps de résidence — calculé une seule fois, réutilisé partout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métier : la vis, modélisée position par position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configuration devient un objet calculable, comparable, historisable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21615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60934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00253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9572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78892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18211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57530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96849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36168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514807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554126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7" name="Shape 15"/>
          <p:cNvSpPr/>
          <p:nvPr/>
        </p:nvSpPr>
        <p:spPr>
          <a:xfrm>
            <a:off x="593445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764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672084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711403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750722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790041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3" name="Shape 21"/>
          <p:cNvSpPr/>
          <p:nvPr/>
        </p:nvSpPr>
        <p:spPr>
          <a:xfrm>
            <a:off x="829360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4" name="Shape 22"/>
          <p:cNvSpPr/>
          <p:nvPr/>
        </p:nvSpPr>
        <p:spPr>
          <a:xfrm>
            <a:off x="868680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5" name="Shape 23"/>
          <p:cNvSpPr/>
          <p:nvPr/>
        </p:nvSpPr>
        <p:spPr>
          <a:xfrm>
            <a:off x="907999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318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986637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8" name="Shape 26"/>
          <p:cNvSpPr/>
          <p:nvPr/>
        </p:nvSpPr>
        <p:spPr>
          <a:xfrm>
            <a:off x="1025956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5276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30" name="Shape 28"/>
          <p:cNvSpPr/>
          <p:nvPr/>
        </p:nvSpPr>
        <p:spPr>
          <a:xfrm>
            <a:off x="1104595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28803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Convoyage            ·            Malaxage / cisaillement            ·            Restriction            ·            Pompage filière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2960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822960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d'éléments de vis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(bibliothèque machine réelle)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407408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07408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37" name="Text 35"/>
          <p:cNvSpPr/>
          <p:nvPr/>
        </p:nvSpPr>
        <p:spPr>
          <a:xfrm>
            <a:off x="4407408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procédé par config 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remplissage, résidence, volumes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991856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91856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1×</a:t>
            </a:r>
            <a:endParaRPr lang="en-US" sz="4800" dirty="0"/>
          </a:p>
        </p:txBody>
      </p:sp>
      <p:sp>
        <p:nvSpPr>
          <p:cNvPr id="40" name="Text 38"/>
          <p:cNvSpPr/>
          <p:nvPr/>
        </p:nvSpPr>
        <p:spPr>
          <a:xfrm>
            <a:off x="7991856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calcul du réseau,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réutilisé par toutes les couches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physique embarquée — nominale, honnête, traçable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équation est documentée ; ce qui n'est pas calibré est annoncé comme tel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57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Viscosité locale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η(γ̇, T) — modèle Carreau-Yasuda couplé à une loi d'Arrhenius, presets rhéologiques par matière (LFP, LATP, liants)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057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 local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η·γ̇²·V_rempli / (2πN) — calculé nœud par nœud le long de la vis, agrégé par zone puis machine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06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Thermique procédé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4663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T_réel = T_consigne + (2πN·M)/(ṁ·Cp) + k·τ — équation imposée par l'encadrant industriel, auto-échauffement par cisaillement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206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Frontière assumée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4663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filière et SME par nœud volontairement non codés (« À venir ») : pas de faux chiffres industriels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 IA explicable — pas une boîte noire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alerte cite ses preuves ; chaque recommandation est chiffrée et actionnable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procédé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(capteurs + moteur)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272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118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métier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0990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08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hiérarchisées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0708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95554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10972800" cy="2240280"/>
          </a:xfrm>
          <a:prstGeom prst="roundRect">
            <a:avLst>
              <a:gd name="adj" fmla="val 3265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233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réel d'explication produite 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443484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Zone 4 : température mesurée 178 °C au-dessus du seuil configuré (170 °C).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 probable : auto-échauffement lié au bloc de malaxage en position 34–41.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Recommandation : réduire la vitesse vis de 220 → 190 tr/min ou abaisser la consigne Z4 de 5 °C. »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données : d'une campagne réelle à une base exploitable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Essais Rondol du 07 au 13 avril 2026 — puis consolidation statistiquement calibrée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52 064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brutes · 12 capteurs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10 s · 6 jours d'essais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9776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fragmentée : 10 à 16 % de couverture par capteur, codes d'erreur thermocouple, doublons DIE/CastFilm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937760" y="1783080"/>
            <a:ext cx="3291840" cy="4206240"/>
          </a:xfrm>
          <a:prstGeom prst="roundRect">
            <a:avLst>
              <a:gd name="adj" fmla="val 2222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798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937760" y="30175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de 60 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features statistiques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57800" y="3977640"/>
            <a:ext cx="2697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reproductible : fusion, segmentation en runs, extraction mean/std/min/max/pente/IQR par zone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3667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06840" y="1783080"/>
            <a:ext cx="2651760" cy="4206240"/>
          </a:xfrm>
          <a:prstGeom prst="roundRect">
            <a:avLst>
              <a:gd name="adj" fmla="val 2759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100 800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9006840" y="301752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consolidées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variables procédé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281160" y="397764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continue calibrée sur le réel : phases, recettes, outliers rares, manquants réalistes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pipeline Machine Learning — rigueur avant performance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par runs (GroupShuffleSplit) : aucune fuite temporelle entre train et test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62456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362456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Fenêtrage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 glissantes,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stable / instable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07792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608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3721608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99232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99232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statistiques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fenêtre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66944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6080760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58384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358384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RandomForest, XGBoost,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— comparés en CV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26096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39912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8439912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17536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17536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d'alerte optimisé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(coût des faux négatifs)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985248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799064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Text 24"/>
          <p:cNvSpPr/>
          <p:nvPr/>
        </p:nvSpPr>
        <p:spPr>
          <a:xfrm>
            <a:off x="10799064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76688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Robustesse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076688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seeds, écart-type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méthodologique clé : le découpage train/test se fait par run d'essai, jamais par fenêtre — un modèle qui a « vu » un run ne peut pas être testé dessus.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RandomForest retenu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de test : 340 fenêtres issues de 3 runs jamais vus à l'entraînement — SVM conservé comme challenger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73736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0" y="2011680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0.918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863840" y="288036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F1-macro (± 0,054) en validation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augmentée sur essais non vus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863840" y="402336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0" y="422452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RandomForest 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83880" y="46177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généralisation mesurée honnêtement, importance des variables lisible par le métier, tolérance aux capteurs manquants.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L'application : une HMI industrielle, pas un dashboard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pages, bilingue FR/EN, persistance 3 couches (édition → validé → historique)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45059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stabilité ML, probabilité de dérive, alertes et recommandations IA en direct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70832" y="18288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vis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45152" y="245059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du profil 81 positions, KPIs procédé recalculés à chaque geste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93024" y="18288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7344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IA &amp; feeders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467344" y="245059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seuils, matières, calibration doseurs — rien n'impacte la supervision avant validation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run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464515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temporelle d'une production : fenêtres, score, profil thermique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70832" y="402336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5152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45152" y="464515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configuration validée est figée avec ses KPIs — traçabilité R&amp;D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93024" y="402336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procédé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467344" y="464515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transparente de la physique : chaque nombre affiché est justifiable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Piloter le projet comme un chef de projet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itérative courte, jalons tenus, risques suivis — troisième volet du triptyque DIA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7568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057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courtes type agile : proposition → validation encadrant → développement → tests → démo. Chaque brique validée avant la suivante.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07568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057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 tenus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83680" y="25603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d'essais (avril) · bascule du modèle retenu · démonstration manager du 16 juin · gel des livrables avant soutenance.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2452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206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pilotés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68680" y="4709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insuffisantes → génération simulée documentée · dérive de périmètre → zones protégées du code · incidents prod → figés en tests de non-régression.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22452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4206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&amp; veille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83680" y="4709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tests automatisés en CI · veille scientifique (extrusion, SSB, ML industriel) alimentant l'état de l'art et les choix technologiques.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prototype vérifié comme un produit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logicielle au service de la crédibilité scientifique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705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au vert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7408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407408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couches de persistance 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l'opérateur ne perd jamais rien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91856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0,753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991856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en validation externe sur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simulée, sans réentraînement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97280" y="4343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 Streamlit (AppTest), tests E2E du cycle enregistrer → recharger → superviser, invariants d'import du moteur, pipeline ML reproductible en CI.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5029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externe : 3 479 fenêtres issues de 15 runs simulés passées dans le même pipeline que le réel — résultat volontairement non optimisé, erreurs majoritairement conservatrices.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023360"/>
            <a:ext cx="5852160" cy="5852160"/>
          </a:xfrm>
          <a:prstGeom prst="ellipse">
            <a:avLst/>
          </a:prstGeom>
          <a:solidFill>
            <a:srgbClr val="1C232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CE PROJET DÉMONTRE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procédé complexe peut devenir lisible,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 et prédictible — sans boîte noire.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91840" y="32461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Jumeau numérique opérationnel · agent IA explicable · modèle ML validé sur runs inédits (0.950) · outil démontrable client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assumées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42976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nominale non calibrée industriellement · dataset d'une seule campagne · pression filière non modélisée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91840" y="53492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sur campagnes futures · équations E5–E7 · apprentissage en ligne sur la base consolidée · déploiement atelier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— place à la démonstration.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2026-07-21T03:12:57Z</dcterms:created>
  <dcterms:modified xsi:type="dcterms:W3CDTF">2026-07-21T03:12:57Z</dcterms:modified>
</cp:coreProperties>
</file>
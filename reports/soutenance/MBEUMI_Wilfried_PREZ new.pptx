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83" r:id="rId25"/>
    <p:sldId id="279" r:id="rId26"/>
    <p:sldId id="280" r:id="rId27"/>
    <p:sldId id="281" r:id="rId28"/>
  </p:sldIdLst>
  <p:sldSz cx="12192000" cy="6858000"/>
  <p:notesSz cx="6858000" cy="12192000"/>
  <p:embeddedFontLst>
    <p:embeddedFont>
      <p:font typeface="Quattrocento" panose="02020502030000000404" pitchFamily="18" charset="0"/>
      <p:regular r:id="rId30"/>
      <p:bold r:id="rId31"/>
    </p:embeddedFont>
    <p:embeddedFont>
      <p:font typeface="Quattrocento Bold" panose="020208020300000004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EC756-9C8F-4F3E-817C-66F78748A991}" v="19" dt="2026-08-17T18:13:33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9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fried MBEUMI" userId="a219b001d2666b80" providerId="LiveId" clId="{EA9EA08A-D56E-41B2-BD63-17697480051D}"/>
    <pc:docChg chg="undo custSel addSld delSld modSld sldOrd">
      <pc:chgData name="Wilfried MBEUMI" userId="a219b001d2666b80" providerId="LiveId" clId="{EA9EA08A-D56E-41B2-BD63-17697480051D}" dt="2026-08-17T18:24:58.559" v="108" actId="20577"/>
      <pc:docMkLst>
        <pc:docMk/>
      </pc:docMkLst>
      <pc:sldChg chg="modSp mod">
        <pc:chgData name="Wilfried MBEUMI" userId="a219b001d2666b80" providerId="LiveId" clId="{EA9EA08A-D56E-41B2-BD63-17697480051D}" dt="2026-08-17T17:05:16.028" v="53" actId="27636"/>
        <pc:sldMkLst>
          <pc:docMk/>
          <pc:sldMk cId="0" sldId="256"/>
        </pc:sldMkLst>
        <pc:spChg chg="mod">
          <ac:chgData name="Wilfried MBEUMI" userId="a219b001d2666b80" providerId="LiveId" clId="{EA9EA08A-D56E-41B2-BD63-17697480051D}" dt="2026-08-17T17:03:37.082" v="33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3:58.858" v="36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4:42.716" v="44" actId="113"/>
          <ac:spMkLst>
            <pc:docMk/>
            <pc:sldMk cId="0" sldId="256"/>
            <ac:spMk id="5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5:16.028" v="53" actId="2763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Wilfried MBEUMI" userId="a219b001d2666b80" providerId="LiveId" clId="{EA9EA08A-D56E-41B2-BD63-17697480051D}" dt="2026-08-17T18:24:58.559" v="108" actId="20577"/>
        <pc:sldMkLst>
          <pc:docMk/>
          <pc:sldMk cId="0" sldId="259"/>
        </pc:sldMkLst>
        <pc:spChg chg="mod">
          <ac:chgData name="Wilfried MBEUMI" userId="a219b001d2666b80" providerId="LiveId" clId="{EA9EA08A-D56E-41B2-BD63-17697480051D}" dt="2026-08-17T17:06:01.193" v="57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6:00.649" v="5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8:24:58.559" v="108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del mod">
        <pc:chgData name="Wilfried MBEUMI" userId="a219b001d2666b80" providerId="LiveId" clId="{EA9EA08A-D56E-41B2-BD63-17697480051D}" dt="2026-08-17T18:15:04.256" v="102" actId="2696"/>
        <pc:sldMkLst>
          <pc:docMk/>
          <pc:sldMk cId="281444554" sldId="278"/>
        </pc:sldMkLst>
        <pc:spChg chg="mod">
          <ac:chgData name="Wilfried MBEUMI" userId="a219b001d2666b80" providerId="LiveId" clId="{EA9EA08A-D56E-41B2-BD63-17697480051D}" dt="2026-08-17T17:06:58.513" v="61" actId="14100"/>
          <ac:spMkLst>
            <pc:docMk/>
            <pc:sldMk cId="281444554" sldId="278"/>
            <ac:spMk id="4" creationId="{00000000-0000-0000-0000-000000000000}"/>
          </ac:spMkLst>
        </pc:spChg>
      </pc:sldChg>
      <pc:sldChg chg="addSp delSp modSp mod">
        <pc:chgData name="Wilfried MBEUMI" userId="a219b001d2666b80" providerId="LiveId" clId="{EA9EA08A-D56E-41B2-BD63-17697480051D}" dt="2026-08-17T17:15:03.597" v="66" actId="20577"/>
        <pc:sldMkLst>
          <pc:docMk/>
          <pc:sldMk cId="1195634369" sldId="281"/>
        </pc:sldMkLst>
        <pc:spChg chg="del mod">
          <ac:chgData name="Wilfried MBEUMI" userId="a219b001d2666b80" providerId="LiveId" clId="{EA9EA08A-D56E-41B2-BD63-17697480051D}" dt="2026-08-17T17:02:26.587" v="26" actId="21"/>
          <ac:spMkLst>
            <pc:docMk/>
            <pc:sldMk cId="1195634369" sldId="281"/>
            <ac:spMk id="5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2:35.359" v="28" actId="1076"/>
          <ac:spMkLst>
            <pc:docMk/>
            <pc:sldMk cId="1195634369" sldId="281"/>
            <ac:spMk id="6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15:03.597" v="66" actId="20577"/>
          <ac:spMkLst>
            <pc:docMk/>
            <pc:sldMk cId="1195634369" sldId="281"/>
            <ac:spMk id="7" creationId="{00000000-0000-0000-0000-000000000000}"/>
          </ac:spMkLst>
        </pc:spChg>
        <pc:spChg chg="add mod">
          <ac:chgData name="Wilfried MBEUMI" userId="a219b001d2666b80" providerId="LiveId" clId="{EA9EA08A-D56E-41B2-BD63-17697480051D}" dt="2026-08-17T17:02:30.509" v="27" actId="1076"/>
          <ac:spMkLst>
            <pc:docMk/>
            <pc:sldMk cId="1195634369" sldId="281"/>
            <ac:spMk id="12" creationId="{ADCA7732-BE24-F7BB-E3CA-C46CD96A9187}"/>
          </ac:spMkLst>
        </pc:spChg>
        <pc:picChg chg="add mod">
          <ac:chgData name="Wilfried MBEUMI" userId="a219b001d2666b80" providerId="LiveId" clId="{EA9EA08A-D56E-41B2-BD63-17697480051D}" dt="2026-08-17T17:02:38.339" v="29" actId="1076"/>
          <ac:picMkLst>
            <pc:docMk/>
            <pc:sldMk cId="1195634369" sldId="281"/>
            <ac:picMk id="10" creationId="{FFD37727-CE06-DCE0-349E-6FF0CEC219FB}"/>
          </ac:picMkLst>
        </pc:picChg>
      </pc:sldChg>
      <pc:sldChg chg="add del">
        <pc:chgData name="Wilfried MBEUMI" userId="a219b001d2666b80" providerId="LiveId" clId="{EA9EA08A-D56E-41B2-BD63-17697480051D}" dt="2026-08-17T18:09:30.040" v="81" actId="2696"/>
        <pc:sldMkLst>
          <pc:docMk/>
          <pc:sldMk cId="987190109" sldId="282"/>
        </pc:sldMkLst>
      </pc:sldChg>
      <pc:sldChg chg="add del">
        <pc:chgData name="Wilfried MBEUMI" userId="a219b001d2666b80" providerId="LiveId" clId="{EA9EA08A-D56E-41B2-BD63-17697480051D}" dt="2026-08-17T18:07:37.069" v="74"/>
        <pc:sldMkLst>
          <pc:docMk/>
          <pc:sldMk cId="1008597271" sldId="282"/>
        </pc:sldMkLst>
      </pc:sldChg>
      <pc:sldChg chg="addSp delSp modSp add mod ord">
        <pc:chgData name="Wilfried MBEUMI" userId="a219b001d2666b80" providerId="LiveId" clId="{EA9EA08A-D56E-41B2-BD63-17697480051D}" dt="2026-08-17T18:15:23.467" v="106" actId="14100"/>
        <pc:sldMkLst>
          <pc:docMk/>
          <pc:sldMk cId="1164496147" sldId="282"/>
        </pc:sldMkLst>
        <pc:spChg chg="mod">
          <ac:chgData name="Wilfried MBEUMI" userId="a219b001d2666b80" providerId="LiveId" clId="{EA9EA08A-D56E-41B2-BD63-17697480051D}" dt="2026-08-17T18:14:16.431" v="95" actId="255"/>
          <ac:spMkLst>
            <pc:docMk/>
            <pc:sldMk cId="1164496147" sldId="282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8:14:24.374" v="96" actId="255"/>
          <ac:spMkLst>
            <pc:docMk/>
            <pc:sldMk cId="1164496147" sldId="282"/>
            <ac:spMk id="4" creationId="{00000000-0000-0000-0000-000000000000}"/>
          </ac:spMkLst>
        </pc:spChg>
        <pc:spChg chg="add del mod">
          <ac:chgData name="Wilfried MBEUMI" userId="a219b001d2666b80" providerId="LiveId" clId="{EA9EA08A-D56E-41B2-BD63-17697480051D}" dt="2026-08-17T18:14:05.345" v="93"/>
          <ac:spMkLst>
            <pc:docMk/>
            <pc:sldMk cId="1164496147" sldId="282"/>
            <ac:spMk id="34" creationId="{F9CAB117-B1BB-0487-2056-F4F7F9942172}"/>
          </ac:spMkLst>
        </pc:spChg>
        <pc:picChg chg="mod">
          <ac:chgData name="Wilfried MBEUMI" userId="a219b001d2666b80" providerId="LiveId" clId="{EA9EA08A-D56E-41B2-BD63-17697480051D}" dt="2026-08-17T18:15:23.467" v="106" actId="14100"/>
          <ac:picMkLst>
            <pc:docMk/>
            <pc:sldMk cId="1164496147" sldId="282"/>
            <ac:picMk id="2" creationId="{00000000-0000-0000-0000-000000000000}"/>
          </ac:picMkLst>
        </pc:picChg>
        <pc:picChg chg="add mod">
          <ac:chgData name="Wilfried MBEUMI" userId="a219b001d2666b80" providerId="LiveId" clId="{EA9EA08A-D56E-41B2-BD63-17697480051D}" dt="2026-08-17T18:14:30.803" v="97" actId="1076"/>
          <ac:picMkLst>
            <pc:docMk/>
            <pc:sldMk cId="1164496147" sldId="282"/>
            <ac:picMk id="36" creationId="{023AD63A-D76C-7485-A476-A252E4AA51BF}"/>
          </ac:picMkLst>
        </pc:picChg>
      </pc:sldChg>
      <pc:sldChg chg="add del">
        <pc:chgData name="Wilfried MBEUMI" userId="a219b001d2666b80" providerId="LiveId" clId="{EA9EA08A-D56E-41B2-BD63-17697480051D}" dt="2026-08-17T18:12:40.281" v="85" actId="2696"/>
        <pc:sldMkLst>
          <pc:docMk/>
          <pc:sldMk cId="1468027652" sldId="282"/>
        </pc:sldMkLst>
      </pc:sldChg>
      <pc:sldChg chg="add del">
        <pc:chgData name="Wilfried MBEUMI" userId="a219b001d2666b80" providerId="LiveId" clId="{EA9EA08A-D56E-41B2-BD63-17697480051D}" dt="2026-08-17T18:07:18.733" v="70"/>
        <pc:sldMkLst>
          <pc:docMk/>
          <pc:sldMk cId="2524141319" sldId="282"/>
        </pc:sldMkLst>
      </pc:sldChg>
      <pc:sldChg chg="add del">
        <pc:chgData name="Wilfried MBEUMI" userId="a219b001d2666b80" providerId="LiveId" clId="{EA9EA08A-D56E-41B2-BD63-17697480051D}" dt="2026-08-17T18:08:05.592" v="78"/>
        <pc:sldMkLst>
          <pc:docMk/>
          <pc:sldMk cId="3554244619" sldId="282"/>
        </pc:sldMkLst>
      </pc:sldChg>
      <pc:sldChg chg="add del">
        <pc:chgData name="Wilfried MBEUMI" userId="a219b001d2666b80" providerId="LiveId" clId="{EA9EA08A-D56E-41B2-BD63-17697480051D}" dt="2026-08-17T18:07:16.707" v="69"/>
        <pc:sldMkLst>
          <pc:docMk/>
          <pc:sldMk cId="255149977" sldId="283"/>
        </pc:sldMkLst>
      </pc:sldChg>
      <pc:sldChg chg="add ord">
        <pc:chgData name="Wilfried MBEUMI" userId="a219b001d2666b80" providerId="LiveId" clId="{EA9EA08A-D56E-41B2-BD63-17697480051D}" dt="2026-08-17T18:14:49.275" v="101"/>
        <pc:sldMkLst>
          <pc:docMk/>
          <pc:sldMk cId="647538261" sldId="283"/>
        </pc:sldMkLst>
      </pc:sldChg>
      <pc:sldChg chg="add del">
        <pc:chgData name="Wilfried MBEUMI" userId="a219b001d2666b80" providerId="LiveId" clId="{EA9EA08A-D56E-41B2-BD63-17697480051D}" dt="2026-08-17T18:08:05.142" v="77"/>
        <pc:sldMkLst>
          <pc:docMk/>
          <pc:sldMk cId="2603714875" sldId="283"/>
        </pc:sldMkLst>
      </pc:sldChg>
      <pc:sldChg chg="add del">
        <pc:chgData name="Wilfried MBEUMI" userId="a219b001d2666b80" providerId="LiveId" clId="{EA9EA08A-D56E-41B2-BD63-17697480051D}" dt="2026-08-17T18:09:32.143" v="82" actId="2696"/>
        <pc:sldMkLst>
          <pc:docMk/>
          <pc:sldMk cId="2937169086" sldId="283"/>
        </pc:sldMkLst>
      </pc:sldChg>
      <pc:sldChg chg="add del">
        <pc:chgData name="Wilfried MBEUMI" userId="a219b001d2666b80" providerId="LiveId" clId="{EA9EA08A-D56E-41B2-BD63-17697480051D}" dt="2026-08-17T18:12:42.044" v="86" actId="2696"/>
        <pc:sldMkLst>
          <pc:docMk/>
          <pc:sldMk cId="3443995496" sldId="283"/>
        </pc:sldMkLst>
      </pc:sldChg>
      <pc:sldChg chg="add del">
        <pc:chgData name="Wilfried MBEUMI" userId="a219b001d2666b80" providerId="LiveId" clId="{EA9EA08A-D56E-41B2-BD63-17697480051D}" dt="2026-08-17T18:07:36.589" v="73"/>
        <pc:sldMkLst>
          <pc:docMk/>
          <pc:sldMk cId="3938651901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27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51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45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88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0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73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37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2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3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08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27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50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47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56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91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04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81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8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6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6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jpeg"/><Relationship Id="rId7" Type="http://schemas.openxmlformats.org/officeDocument/2006/relationships/hyperlink" Target="https://rondol-process-supervision-demo.streamlit.app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beumigautier@gmail.com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72" y="5146080"/>
            <a:ext cx="1392203" cy="61743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2281" y="206380"/>
            <a:ext cx="6850574" cy="381880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74964" y="305592"/>
            <a:ext cx="65923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6000"/>
              </a:lnSpc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MEMOIRE DE FIN D’ETUDES — MASTÈRE 2 DATA &amp; INTELLIGENCE ARTIFICIELLE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784048"/>
            <a:ext cx="6223638" cy="196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fr-FR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THÈME :</a:t>
            </a:r>
          </a:p>
          <a:p>
            <a:pPr marL="0" indent="0" algn="ctr">
              <a:lnSpc>
                <a:spcPct val="104000"/>
              </a:lnSpc>
              <a:buNone/>
            </a:pPr>
            <a:endParaRPr lang="fr-FR" sz="3650" dirty="0">
              <a:solidFill>
                <a:srgbClr val="FFD9BE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Conception et déploiement d'un système d'intelligence artificielle prédictif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d'aide à la décision pour l'optimisation des paramètres d'extrusion </a:t>
            </a:r>
            <a:r>
              <a:rPr lang="fr-FR" sz="3650" b="1" dirty="0" err="1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bivis</a:t>
            </a: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composants de batteries tout-solide (dry / semi-dry) </a:t>
            </a:r>
            <a:endParaRPr lang="en-US" sz="3650" b="1" dirty="0"/>
          </a:p>
        </p:txBody>
      </p:sp>
      <p:sp>
        <p:nvSpPr>
          <p:cNvPr id="6" name="Text 3"/>
          <p:cNvSpPr/>
          <p:nvPr/>
        </p:nvSpPr>
        <p:spPr>
          <a:xfrm>
            <a:off x="698086" y="3196332"/>
            <a:ext cx="6223638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“Jumeau numérique et IA explicable pour l'extrusion bivis de composants de batteries tout-</a:t>
            </a:r>
            <a:r>
              <a:rPr lang="en-US" sz="1550" i="1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solide</a:t>
            </a:r>
            <a:r>
              <a:rPr lang="en-US" sz="15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”</a:t>
            </a:r>
            <a:endParaRPr lang="en-US" sz="1550" i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Wilfried Galtier MBEUMI Nexa Digital School — 2025–2026 — Encadrement industriel : Maël Gallas — Rondol Industrie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5146080"/>
            <a:ext cx="2817643" cy="733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0571"/>
            <a:ext cx="6223638" cy="35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Déroulé de la présentation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698086" y="1059458"/>
            <a:ext cx="6223638" cy="2441972"/>
          </a:xfrm>
          <a:prstGeom prst="roundRect">
            <a:avLst>
              <a:gd name="adj" fmla="val 73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698086" y="1059458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14941" y="0"/>
                </a:moveTo>
                <a:lnTo>
                  <a:pt x="6208697" y="0"/>
                </a:lnTo>
                <a:arcTo wR="14941" hR="14942" stAng="16200000" swAng="5400000"/>
                <a:lnTo>
                  <a:pt x="6223638" y="610493"/>
                </a:lnTo>
                <a:lnTo>
                  <a:pt x="0" y="610493"/>
                </a:lnTo>
                <a:lnTo>
                  <a:pt x="0" y="14942"/>
                </a:lnTo>
                <a:arcTo wR="14941" hR="14942" stAng="10800000" swAng="5400000"/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17542" y="1178917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 &amp; MARCHÉ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7542" y="1397595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Rondol, batteries SSB, concurrence, SWOT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8086" y="1669951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98086" y="1669951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17542" y="1789410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 — PROBLÉMATIQUE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7542" y="2008088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Trois exigences non négociables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8086" y="2280444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98086" y="2280444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17542" y="2399903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542" y="2618581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Architecture, vis, physique, agent 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8086" y="2890937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0" y="0"/>
                </a:moveTo>
                <a:lnTo>
                  <a:pt x="6223638" y="0"/>
                </a:lnTo>
                <a:lnTo>
                  <a:pt x="6223638" y="595551"/>
                </a:lnTo>
                <a:arcTo wR="14941" hR="14942" stAng="0" swAng="5400000"/>
                <a:lnTo>
                  <a:pt x="14941" y="610493"/>
                </a:lnTo>
                <a:arcTo wR="14941" hR="14942" stAng="5400000" swAng="5400000"/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98086" y="2890937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17542" y="3010396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542" y="3229074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Pipeline ML, LOGO, championnat, audit fuite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8086" y="3581995"/>
            <a:ext cx="6223638" cy="2441972"/>
          </a:xfrm>
          <a:prstGeom prst="roundRect">
            <a:avLst>
              <a:gd name="adj" fmla="val 73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98086" y="3581995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14941" y="0"/>
                </a:moveTo>
                <a:lnTo>
                  <a:pt x="6208697" y="0"/>
                </a:lnTo>
                <a:arcTo wR="14941" hR="14942" stAng="16200000" swAng="5400000"/>
                <a:lnTo>
                  <a:pt x="6223638" y="610493"/>
                </a:lnTo>
                <a:lnTo>
                  <a:pt x="0" y="610493"/>
                </a:lnTo>
                <a:lnTo>
                  <a:pt x="0" y="14942"/>
                </a:lnTo>
                <a:arcTo wR="14941" hR="14942" stAng="10800000" swAng="5400000"/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17542" y="3701455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7542" y="3920133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Modèle corrigé, validation externe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8086" y="4192488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98086" y="4192488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817542" y="4311948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7542" y="4530626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HMI industrielle, 5 cas de démonstration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8086" y="4802981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698086" y="4802981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817542" y="4922441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07 — GESTION DE PROJET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7542" y="5141119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Kanban, veille, budget, qualité logicielle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98086" y="5413474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0" y="0"/>
                </a:moveTo>
                <a:lnTo>
                  <a:pt x="6223638" y="0"/>
                </a:lnTo>
                <a:lnTo>
                  <a:pt x="6223638" y="595551"/>
                </a:lnTo>
                <a:arcTo wR="14941" hR="14942" stAng="0" swAng="5400000"/>
                <a:lnTo>
                  <a:pt x="14941" y="610493"/>
                </a:lnTo>
                <a:arcTo wR="14941" hR="14942" stAng="5400000" swAng="5400000"/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98086" y="5413474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817542" y="5532934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08 — CONCLUSION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7542" y="5751612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Bilan, limites, perspectives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8086" y="6104533"/>
            <a:ext cx="68332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7"/>
            <a:ext cx="12191695" cy="187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674640"/>
            <a:ext cx="113741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98086" y="3111202"/>
            <a:ext cx="1063301" cy="227211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87777" y="3156049"/>
            <a:ext cx="14935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98086" y="3383260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Rondol Industrie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98086" y="3991570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PME deeptech française, fondée en 2012 — extrusion bivis de laboratoire et pré-série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0337" y="4327227"/>
            <a:ext cx="5430801" cy="1827113"/>
          </a:xfrm>
          <a:prstGeom prst="roundRect">
            <a:avLst>
              <a:gd name="adj" fmla="val 1228"/>
            </a:avLst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9856" y="4439345"/>
            <a:ext cx="513176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POSITIONNEMENT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9856" y="4771430"/>
            <a:ext cx="513176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Extrudeuses bivis Ø 10,5 mm et 21 mm. Configurations horizontale et verticale. Niche laboratoire R&amp;D.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9856" y="5302448"/>
            <a:ext cx="513176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VALEURS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9856" y="5634534"/>
            <a:ext cx="513176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Précision (géométrie fine), Reproductibilité (configs comparables), Accessibilité (R&amp;D).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84656" y="4439345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RECONNAISSANCE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84656" y="4771430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Double nomination Prix Galien (2020, 2023). Brevets configurations vis modulaires.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84656" y="5302448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Activité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84656" y="5634534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Plateformes d'extrusion labo + services d'optimisation de formulations — pharma, alimentaire et batteries tout-solide.</a:t>
            </a:r>
            <a:endParaRPr lang="en-US" sz="115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A7FB53D-D1F6-3117-6953-4E30FBDC2BE3}"/>
              </a:ext>
            </a:extLst>
          </p:cNvPr>
          <p:cNvSpPr/>
          <p:nvPr/>
        </p:nvSpPr>
        <p:spPr>
          <a:xfrm>
            <a:off x="1749583" y="2827040"/>
            <a:ext cx="10512261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178341" y="6540288"/>
            <a:ext cx="8013354" cy="261718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98128"/>
            <a:ext cx="141879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957957"/>
            <a:ext cx="178906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28101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marché des batteries tout-solide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0,26 Md$</a:t>
            </a:r>
            <a:endParaRPr lang="en-US" sz="5150" dirty="0"/>
          </a:p>
        </p:txBody>
      </p:sp>
      <p:sp>
        <p:nvSpPr>
          <p:cNvPr id="6" name="Text 4"/>
          <p:cNvSpPr/>
          <p:nvPr/>
        </p:nvSpPr>
        <p:spPr>
          <a:xfrm>
            <a:off x="698086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MARCHÉ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086" y="35870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GRAND VIEW RESEARCH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79704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1,77 Md$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4379704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MARCHÉ 2031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79704" y="358705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MarketsandMarkets — CAGR 37,5 % — Horizon 2030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61322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15,65 Md$</a:t>
            </a:r>
            <a:endParaRPr lang="en-US" sz="5150" dirty="0"/>
          </a:p>
        </p:txBody>
      </p:sp>
      <p:sp>
        <p:nvSpPr>
          <p:cNvPr id="12" name="Text 10"/>
          <p:cNvSpPr/>
          <p:nvPr/>
        </p:nvSpPr>
        <p:spPr>
          <a:xfrm>
            <a:off x="8061322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HORIZON</a:t>
            </a:r>
            <a:r>
              <a:rPr lang="en-US" sz="18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2030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61322" y="35870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MarketsandMarkets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54520" y="4449762"/>
            <a:ext cx="5441615" cy="1510010"/>
          </a:xfrm>
          <a:prstGeom prst="roundRect">
            <a:avLst>
              <a:gd name="adj" fmla="val 1982"/>
            </a:avLst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3944" y="4649192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VOIE HUMIDE (dominante)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3944" y="5141912"/>
            <a:ext cx="504276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Solvant NMP toxique, séchage énergivore. Sous pression PFAS / ECHA.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45476" y="46491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EXTRUSION SÈCHE (Rondol)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476" y="5116016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Procédé continu, sans solvant. Formulations céramiques abrasives, peu documentées.</a:t>
            </a:r>
            <a:endParaRPr lang="en-US" sz="15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61E5BB8-55C5-F84E-6E47-AD50DD0D7EE1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17364"/>
            <a:ext cx="1347555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1788" y="874216"/>
            <a:ext cx="1729736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17733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Analyse concurrentielle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04616"/>
            <a:ext cx="3478522" cy="28057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586" y="2219523"/>
            <a:ext cx="294712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Coperion — Allemagne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14586" y="2606080"/>
            <a:ext cx="2947120" cy="198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Leader mondial, grande capacité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Pas d'offre labo miniaturisée, pas de jumeau numérique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6586" y="2004616"/>
            <a:ext cx="3478522" cy="28057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73086" y="2219523"/>
            <a:ext cx="294712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Thermo Fisher — États-Unis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673086" y="2606080"/>
            <a:ext cx="2947120" cy="198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Segment labo, marque reconnue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Approche générique, pas de personnalisation géométrie vis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087" y="2004616"/>
            <a:ext cx="3478522" cy="28057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1587" y="2219523"/>
            <a:ext cx="29471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Leistritz / ENTEK — Allemagne / USA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331587" y="2884686"/>
            <a:ext cx="2947120" cy="1693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indirect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Extrusion de production, ENTEK sur batterie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Pas de labo miniaturisé, pas d'IA embarquée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98086" y="5012829"/>
            <a:ext cx="10795524" cy="1027807"/>
          </a:xfrm>
          <a:prstGeom prst="roundRect">
            <a:avLst>
              <a:gd name="adj" fmla="val 2766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89" y="5271095"/>
            <a:ext cx="236829" cy="1895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3921" y="5240139"/>
            <a:ext cx="9990185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Position Rondol : miniaturisation 10,5 mm, brevets, et — avec ce projet — un jumeau numérique unique sur le segment.</a:t>
            </a:r>
            <a:endParaRPr lang="en-US" sz="14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95003B7-9F18-833A-F541-B0E22420E6B4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269971" y="235167"/>
            <a:ext cx="141879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5084833" y="294995"/>
            <a:ext cx="178906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269971" y="72162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Analyse SWOT</a:t>
            </a:r>
            <a:endParaRPr lang="en-US" sz="3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1491654"/>
            <a:ext cx="7620114" cy="5366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638201"/>
            <a:ext cx="192231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698030"/>
            <a:ext cx="229259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 — PROBLÉMATIQUE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02108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Une question, trois exigences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906911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Comment concevoir un système d'aide à la décision qui rende un procédé d'extrusion bivis lisible, comparable et prédictible 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3769618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97510" y="3969048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TRAÇABLE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4381996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Toute valeur explicable à un ingénieur procédé.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63035" y="3769618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62460" y="3969048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HONNÊTE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2460" y="4381996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 qui n'est pas calibré est annoncé comme tel.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27985" y="3769618"/>
            <a:ext cx="3465624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7410" y="3969048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DÉMONTRABLE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7410" y="4381996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Utilisable devant le client, pas une maquette.</a:t>
            </a:r>
            <a:endParaRPr lang="en-US" sz="15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4EE7FD0-5797-6682-85F1-A2EA30162BF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01104" y="236492"/>
            <a:ext cx="2244074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1"/>
          <p:cNvSpPr/>
          <p:nvPr/>
        </p:nvSpPr>
        <p:spPr>
          <a:xfrm>
            <a:off x="698086" y="293344"/>
            <a:ext cx="262625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50" dirty="0"/>
          </a:p>
        </p:txBody>
      </p:sp>
      <p:sp>
        <p:nvSpPr>
          <p:cNvPr id="7" name="Text 2"/>
          <p:cNvSpPr/>
          <p:nvPr/>
        </p:nvSpPr>
        <p:spPr>
          <a:xfrm>
            <a:off x="601104" y="581376"/>
            <a:ext cx="6223638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 en couches</a:t>
            </a:r>
            <a:endParaRPr lang="en-US" sz="3500" dirty="0"/>
          </a:p>
        </p:txBody>
      </p:sp>
      <p:sp>
        <p:nvSpPr>
          <p:cNvPr id="8" name="Text 3"/>
          <p:cNvSpPr/>
          <p:nvPr/>
        </p:nvSpPr>
        <p:spPr>
          <a:xfrm>
            <a:off x="601104" y="1176978"/>
            <a:ext cx="683322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Principe fondateur : envelopper, ne pas recalculer.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5564"/>
            <a:ext cx="7611694" cy="529243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50306" y="3628628"/>
            <a:ext cx="248725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79748"/>
            <a:ext cx="2244074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1788" y="736600"/>
            <a:ext cx="262625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39713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vis devient un objet calculable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8086" y="1866999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Géométrie réelle Rondol Ø 10,5 mm — pas un modèle générique.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0242" y="2459831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81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98086" y="3314898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40515" y="2459831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13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208359" y="3314898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types d'éléments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30242" y="4048323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98086" y="4903391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appel unique (N7)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340515" y="4048323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08359" y="4903391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zones thermiques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98086" y="5384502"/>
            <a:ext cx="10795524" cy="79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5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Convoyage → Malaxage → Cisaillement → Restriction → Filière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Grandeurs dérivées : taux de remplissage, temps de séjour, volume occupé/libre, agrégation par zone.</a:t>
            </a:r>
            <a:endParaRPr lang="en-US" sz="14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06366BE-0532-482F-CA28-C234491D8172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020366"/>
            <a:ext cx="2363034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80195"/>
            <a:ext cx="273330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403251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Physique embarquée — nominale, annoncée comme telle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875756"/>
            <a:ext cx="3465525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22910" y="310058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Viscosité locale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2910" y="3513534"/>
            <a:ext cx="301587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η(γ̇, T)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Carreau-Yasuda + Arrhénius. Presets par matière.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875756"/>
            <a:ext cx="3465525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87859" y="310058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Couple local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7859" y="3513534"/>
            <a:ext cx="301587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 = η·γ̇²·V / 2πN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Nœud par nœud, agrégation par zone.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875756"/>
            <a:ext cx="3465624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52809" y="3100586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Équation thermique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2809" y="3513534"/>
            <a:ext cx="3015976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 = Tc + (2πNM)/(ṁCp) + kτ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Imposée par l'encadrement industriel.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8086" y="5039916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5330527"/>
            <a:ext cx="249330" cy="19943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46266" y="5289153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E5, E6, E7 différées. L'interface affiche « À venir » plutôt qu'une valeur non calibrée.</a:t>
            </a:r>
            <a:endParaRPr lang="en-US" sz="15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0B23A9AD-BD6B-39EF-5451-A7CC2DEAC200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66849"/>
            <a:ext cx="1653241" cy="212130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81824" y="708720"/>
            <a:ext cx="209534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91807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modèle prédit. Les règles expliquent. L'humain décide.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475184"/>
            <a:ext cx="10795524" cy="44161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600124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11 règles explicables. Chaque recommandation : quel paramètre, dans quel sens, de combien.</a:t>
            </a:r>
            <a:endParaRPr lang="en-US" sz="10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FD5C631-4F66-BDA7-D818-5E11EB4D151B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53259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78087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844560" y="833581"/>
            <a:ext cx="1921819" cy="212130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8025208" y="895549"/>
            <a:ext cx="236392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693650" y="1075234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Campagne réelle — 8 essais exploitables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5693650" y="1628775"/>
            <a:ext cx="640954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7–13 avril 2026 · 12 fichiers CSV · capteurs de température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203497" y="2001837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310 782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269971" y="2605584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relevés bruts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03497" y="3076178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627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269971" y="3679924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fenêtres 60 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03497" y="4150519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87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269971" y="4754265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03497" y="5224859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269971" y="5828605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essais exploitables</a:t>
            </a:r>
            <a:endParaRPr lang="en-US" sz="1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B5D9261-B06C-6067-283B-D5F813C6862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8609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69268"/>
            <a:ext cx="2746802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29097"/>
            <a:ext cx="311707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5215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La séparation par essai change la vérité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3797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Leave-One-Group-Out : un essai entier écarté à chaque pli.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54520" y="2781498"/>
            <a:ext cx="5441615" cy="2563614"/>
          </a:xfrm>
          <a:prstGeom prst="roundRect">
            <a:avLst>
              <a:gd name="adj" fmla="val 1167"/>
            </a:avLst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3944" y="2980928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PARTITION ALÉATOIRE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3944" y="3473648"/>
            <a:ext cx="5042766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0,92</a:t>
            </a:r>
            <a:endParaRPr lang="en-US" sz="7350" dirty="0"/>
          </a:p>
        </p:txBody>
      </p:sp>
      <p:sp>
        <p:nvSpPr>
          <p:cNvPr id="9" name="Text 7"/>
          <p:cNvSpPr/>
          <p:nvPr/>
        </p:nvSpPr>
        <p:spPr>
          <a:xfrm>
            <a:off x="753944" y="4846439"/>
            <a:ext cx="565235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F1-macro — optimiste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45476" y="2980928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SÉPARATION PAR ESSAI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5476" y="3473648"/>
            <a:ext cx="5154484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0,79</a:t>
            </a:r>
            <a:endParaRPr lang="en-US" sz="7350" dirty="0"/>
          </a:p>
        </p:txBody>
      </p:sp>
      <p:sp>
        <p:nvSpPr>
          <p:cNvPr id="12" name="Text 10"/>
          <p:cNvSpPr/>
          <p:nvPr/>
        </p:nvSpPr>
        <p:spPr>
          <a:xfrm>
            <a:off x="6345476" y="4846439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F1-macro — réaliste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8086" y="556944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15 points d'écart — la mesure de ce que vaut le modèle face à un essai jamais vu.</a:t>
            </a:r>
            <a:endParaRPr lang="en-US" sz="15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3AAC9712-C460-D6A3-1CB5-15155CED76E6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9171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200273"/>
            <a:ext cx="2608594" cy="288032"/>
          </a:xfrm>
          <a:prstGeom prst="roundRect">
            <a:avLst>
              <a:gd name="adj" fmla="val 7895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811788" y="257125"/>
            <a:ext cx="299077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98086" y="545157"/>
            <a:ext cx="7747600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Championnat de cinq modèles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04" y="1358600"/>
            <a:ext cx="8197298" cy="43356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086" y="5922466"/>
            <a:ext cx="835718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RF retenu (0,809 F1-macro, 0,950 accuracy, 0,976 AUC). SVM gardé comme challenger.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22585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42479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02308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2536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résultat semblait décisif. Il était faux.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554520" y="2211189"/>
            <a:ext cx="5441615" cy="2617291"/>
          </a:xfrm>
          <a:prstGeom prst="roundRect">
            <a:avLst>
              <a:gd name="adj" fmla="val 1143"/>
            </a:avLst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53944" y="2410619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SANS AUGMENTATION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3944" y="2903339"/>
            <a:ext cx="5042766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7350" dirty="0"/>
          </a:p>
        </p:txBody>
      </p:sp>
      <p:sp>
        <p:nvSpPr>
          <p:cNvPr id="8" name="Text 6"/>
          <p:cNvSpPr/>
          <p:nvPr/>
        </p:nvSpPr>
        <p:spPr>
          <a:xfrm>
            <a:off x="6345476" y="2410619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AUGMENTATION GLOBALE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5476" y="2903339"/>
            <a:ext cx="5154484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0,918</a:t>
            </a:r>
            <a:endParaRPr lang="en-US" sz="7350" dirty="0"/>
          </a:p>
        </p:txBody>
      </p:sp>
      <p:sp>
        <p:nvSpPr>
          <p:cNvPr id="10" name="Shape 8"/>
          <p:cNvSpPr/>
          <p:nvPr/>
        </p:nvSpPr>
        <p:spPr>
          <a:xfrm>
            <a:off x="6345476" y="4301034"/>
            <a:ext cx="768430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65130" y="4360863"/>
            <a:ext cx="113870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FUITÉE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8086" y="5052814"/>
            <a:ext cx="10795524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Fuite par ancrage : le pool synthétique incluait l'essai de test. Correction : régénérer dans chaque pli.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Correction : régénérer le pool dans chaque pli, depuis les seuls essais d'entraînement.</a:t>
            </a:r>
            <a:endParaRPr lang="en-US" sz="15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C5557E-0F27-7A84-02E3-46BCA3E0B676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481074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27459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687288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0103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vrai résultat : le gain disparaît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1896170"/>
            <a:ext cx="10795524" cy="3790851"/>
          </a:xfrm>
          <a:prstGeom prst="roundRect">
            <a:avLst>
              <a:gd name="adj" fmla="val 78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2796084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373636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3951188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52874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98086" y="5106293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95488" y="2028527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Modèle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71132" y="2028527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Sans augm.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62660" y="2028527"/>
            <a:ext cx="11926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Globale (fuitée)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54188" y="2028527"/>
            <a:ext cx="11926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Par pli (corrigée)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95488" y="2925266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71132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0,809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62660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0,918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54188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495488" y="3502819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SVM (RBF)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71132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0,805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62660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0,868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54188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0,824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495488" y="4080371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Régression logistique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971132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0,799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562660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54188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495488" y="4657923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XGBoost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971132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0,757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562660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0,900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154188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0,801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2495488" y="5235476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Réseau de neurones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971132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0,778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562660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0,862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54188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0,781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98086" y="591135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Cinq modèles entre 0,78 et 0,82 — statistiquement indiscernables. Le +0,109 était un artefact.</a:t>
            </a:r>
            <a:endParaRPr lang="en-US" sz="155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F7E350A1-AE8A-4098-524D-F1844A9994CE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15453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42107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201936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52499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Dire la vérité renforce le projet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410817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7510" y="2610247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DÉONTOLOGIQUE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23195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 pas promettre une performance qui ne tiendrait pas en production.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410817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62460" y="2610247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MÉTHODOLOGIQUE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60" y="3023195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performance dépend autant du protocole que de l'algorithme.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410817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7410" y="2610247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REPRODUCTIBLE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10" y="3023195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Prédictions, métriques et générateur corrigé livrés.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97223" y="4628852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« J'aurais pu livrer 0,918 : personne ne l'aurait vu. »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8086" y="4404519"/>
            <a:ext cx="25399" cy="767854"/>
          </a:xfrm>
          <a:prstGeom prst="roundRect">
            <a:avLst>
              <a:gd name="adj" fmla="val 50001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8086" y="539670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 n'est pas l'échec du modèle — c'est la réussite de l'audit.</a:t>
            </a:r>
            <a:endParaRPr lang="en-US" sz="15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C4C33FC-7E4A-8136-0C55-7EF3F7005B2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9345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71202"/>
            <a:ext cx="1558191" cy="190698"/>
          </a:xfrm>
          <a:prstGeom prst="roundRect">
            <a:avLst>
              <a:gd name="adj" fmla="val 7904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3391" y="608806"/>
            <a:ext cx="201716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98086" y="793452"/>
            <a:ext cx="10795524" cy="36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Validation externe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98086" y="1281410"/>
            <a:ext cx="1140510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 simulée 100 800 lignes, sans réentraînement.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16302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3 479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98086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FENÊTRES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8086" y="2365474"/>
            <a:ext cx="3532595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évaluées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7717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0,753</a:t>
            </a:r>
            <a:endParaRPr lang="en-US" sz="3250" dirty="0"/>
          </a:p>
        </p:txBody>
      </p:sp>
      <p:sp>
        <p:nvSpPr>
          <p:cNvPr id="10" name="Text 8"/>
          <p:cNvSpPr/>
          <p:nvPr/>
        </p:nvSpPr>
        <p:spPr>
          <a:xfrm>
            <a:off x="4329500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AUC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79131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62%</a:t>
            </a:r>
            <a:endParaRPr lang="en-US" sz="3250" dirty="0"/>
          </a:p>
        </p:txBody>
      </p:sp>
      <p:sp>
        <p:nvSpPr>
          <p:cNvPr id="12" name="Text 10"/>
          <p:cNvSpPr/>
          <p:nvPr/>
        </p:nvSpPr>
        <p:spPr>
          <a:xfrm>
            <a:off x="7960915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INSTABILITÉS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60915" y="2365474"/>
            <a:ext cx="3532595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détectées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18085"/>
            <a:ext cx="6298149" cy="3668713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DCC01D2F-3C2C-C218-4063-E90F6C8AB713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0139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05423"/>
            <a:ext cx="1590933" cy="196949"/>
          </a:xfrm>
          <a:prstGeom prst="roundRect">
            <a:avLst>
              <a:gd name="adj" fmla="val 7900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5871" y="220008"/>
            <a:ext cx="2044946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542313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HMI industrielle — Supervision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07846"/>
            <a:ext cx="7168871" cy="40415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8086" y="5302945"/>
            <a:ext cx="35423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27662" y="5432524"/>
            <a:ext cx="328316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 pages Streamlit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4639" y="5302945"/>
            <a:ext cx="35423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454215" y="5432524"/>
            <a:ext cx="328316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Persistance 3 couches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1192" y="5302945"/>
            <a:ext cx="35424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080768" y="5432524"/>
            <a:ext cx="328326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Bilingue FR/EN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8086" y="5836940"/>
            <a:ext cx="5355595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827662" y="5966520"/>
            <a:ext cx="509644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PBKDF2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37915" y="5836940"/>
            <a:ext cx="5355694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267492" y="5966520"/>
            <a:ext cx="509654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WCAG 2.1 AA</a:t>
            </a:r>
            <a:endParaRPr lang="en-US" sz="1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E9DB4DED-A65E-D678-763C-B59A3EA98568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953919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83766"/>
            <a:ext cx="2448062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343594"/>
            <a:ext cx="281833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4436" y="7037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Profil de vis &amp; Moteur Procédé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36" y="1467121"/>
            <a:ext cx="3487849" cy="43096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24" y="1467121"/>
            <a:ext cx="3487948" cy="430979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312" y="1467121"/>
            <a:ext cx="3487948" cy="4309791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BD68F74-DFF4-DB6A-390C-197C8A868A27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33371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4333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06 — APPLICATION &amp; JUMEAU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323578"/>
            <a:ext cx="10795524" cy="4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Cinq cas — sensibilité et réversibilité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8086" y="2039342"/>
            <a:ext cx="10795524" cy="3189486"/>
          </a:xfrm>
          <a:prstGeom prst="roundRect">
            <a:avLst>
              <a:gd name="adj" fmla="val 89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98086" y="2573040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3103563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634085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4164608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695130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782718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556706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174130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4436" y="2045692"/>
            <a:ext cx="1078282" cy="527348"/>
          </a:xfrm>
          <a:custGeom>
            <a:avLst/>
            <a:gdLst/>
            <a:ahLst/>
            <a:cxnLst/>
            <a:rect l="l" t="t" r="r" b="b"/>
            <a:pathLst>
              <a:path w="1078282" h="527348">
                <a:moveTo>
                  <a:pt x="23688" y="0"/>
                </a:moveTo>
                <a:lnTo>
                  <a:pt x="1078282" y="0"/>
                </a:lnTo>
                <a:lnTo>
                  <a:pt x="1078282" y="527348"/>
                </a:lnTo>
                <a:lnTo>
                  <a:pt x="0" y="527348"/>
                </a:lnTo>
                <a:lnTo>
                  <a:pt x="0" y="23689"/>
                </a:lnTo>
                <a:arcTo wR="23688" hR="23689" stAng="10800000" swAng="5400000"/>
                <a:close/>
              </a:path>
            </a:pathLst>
          </a:cu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3939" y="2159992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Cas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782718" y="2045692"/>
            <a:ext cx="3773988" cy="527348"/>
          </a:xfrm>
          <a:prstGeom prst="rect">
            <a:avLst/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975396" y="2159992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Scénario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56706" y="2045692"/>
            <a:ext cx="1617424" cy="527348"/>
          </a:xfrm>
          <a:prstGeom prst="rect">
            <a:avLst/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749384" y="2159992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Score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74130" y="2045692"/>
            <a:ext cx="4313130" cy="527348"/>
          </a:xfrm>
          <a:custGeom>
            <a:avLst/>
            <a:gdLst/>
            <a:ahLst/>
            <a:cxnLst/>
            <a:rect l="l" t="t" r="r" b="b"/>
            <a:pathLst>
              <a:path w="4313130" h="527348">
                <a:moveTo>
                  <a:pt x="0" y="0"/>
                </a:moveTo>
                <a:lnTo>
                  <a:pt x="4289441" y="0"/>
                </a:lnTo>
                <a:arcTo wR="23688" hR="23689" stAng="16200000" swAng="5400000"/>
                <a:lnTo>
                  <a:pt x="4313130" y="527348"/>
                </a:lnTo>
                <a:lnTo>
                  <a:pt x="0" y="527348"/>
                </a:lnTo>
                <a:lnTo>
                  <a:pt x="0" y="0"/>
                </a:lnTo>
                <a:close/>
              </a:path>
            </a:pathLst>
          </a:cu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66808" y="2159992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Résultat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3939" y="2690515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975396" y="2690515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Référence LFP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49384" y="2690515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65/100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66808" y="2690515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Baseline établie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3939" y="3221038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C2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75396" y="3221038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Configuration optimisée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749384" y="3221038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82/100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66808" y="3221038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L'outil est sensible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93939" y="3751560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975396" y="3751560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Défaut provoqué Z5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749384" y="3751560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46/100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66808" y="3751560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Alerte rouge, P(stab) = 0,30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3939" y="4282083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C4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975396" y="4282083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Recommandation agent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749384" y="4282083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—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366808" y="4282083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Quel paramètre, sens, combien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93939" y="4812605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C5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975396" y="4812605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Après correction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749384" y="4812605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+32 pts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366808" y="4812605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Alerte levée, +0,52 proba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98086" y="5431334"/>
            <a:ext cx="10795524" cy="732234"/>
          </a:xfrm>
          <a:prstGeom prst="roundRect">
            <a:avLst>
              <a:gd name="adj" fmla="val 3882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89" y="5689600"/>
            <a:ext cx="236829" cy="18950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313921" y="5658644"/>
            <a:ext cx="1059977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Sensibilité · Détectabilité · Réversibilité — les trois propriétés d'un jumeau numérique.</a:t>
            </a:r>
            <a:endParaRPr lang="en-US" sz="145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A6C3A2D-DB37-B38E-9855-A44FAD642E11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35776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215" y="0"/>
            <a:ext cx="663078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8086" y="709315"/>
            <a:ext cx="4699676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07 — GESTION DE PROJET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98086" y="1124248"/>
            <a:ext cx="4699676" cy="3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Piloté par validation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98086" y="1555750"/>
            <a:ext cx="4699676" cy="60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KANBAN · WIP = 1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Proposition → validation encadrant → développement → tests → démonstration.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258715"/>
            <a:ext cx="648279" cy="7779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30599" y="2388295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Jan.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430599" y="2629396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Cadrage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3036689"/>
            <a:ext cx="648279" cy="7779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30599" y="3166269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430599" y="3407370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Données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3814663"/>
            <a:ext cx="648279" cy="7779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30599" y="3944243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Avril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430599" y="4185345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Campagne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086" y="4592638"/>
            <a:ext cx="648279" cy="7779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30599" y="4722217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430599" y="4963319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086" y="5370612"/>
            <a:ext cx="648279" cy="77797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430599" y="5500191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Juin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1430599" y="5741293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355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4" y="605334"/>
            <a:ext cx="6223793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Veille structurée &amp; budget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104" y="1248470"/>
            <a:ext cx="6223793" cy="45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SYSTÈME DE VEILLE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98104" y="1983879"/>
            <a:ext cx="6223793" cy="4268788"/>
          </a:xfrm>
          <a:prstGeom prst="roundRect">
            <a:avLst>
              <a:gd name="adj" fmla="val 67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98104" y="2535139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98104" y="3387626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98104" y="4544517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98104" y="5397005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04454" y="1990230"/>
            <a:ext cx="1552773" cy="544909"/>
          </a:xfrm>
          <a:custGeom>
            <a:avLst/>
            <a:gdLst/>
            <a:ahLst/>
            <a:cxnLst/>
            <a:rect l="l" t="t" r="r" b="b"/>
            <a:pathLst>
              <a:path w="1164580" h="408682">
                <a:moveTo>
                  <a:pt x="18117" y="0"/>
                </a:moveTo>
                <a:lnTo>
                  <a:pt x="1164580" y="0"/>
                </a:lnTo>
                <a:lnTo>
                  <a:pt x="1164580" y="408682"/>
                </a:lnTo>
                <a:lnTo>
                  <a:pt x="0" y="408682"/>
                </a:lnTo>
                <a:lnTo>
                  <a:pt x="0" y="18117"/>
                </a:lnTo>
                <a:arcTo wR="18117" hR="18117" stAng="10800000" swAng="5400000"/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97632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Source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2257227" y="1990230"/>
            <a:ext cx="1552773" cy="544909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450405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Type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3810000" y="1990230"/>
            <a:ext cx="1552773" cy="544909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003179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Fréquence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5362774" y="1990230"/>
            <a:ext cx="1552773" cy="544909"/>
          </a:xfrm>
          <a:custGeom>
            <a:avLst/>
            <a:gdLst/>
            <a:ahLst/>
            <a:cxnLst/>
            <a:rect l="l" t="t" r="r" b="b"/>
            <a:pathLst>
              <a:path w="1164580" h="408682">
                <a:moveTo>
                  <a:pt x="0" y="0"/>
                </a:moveTo>
                <a:lnTo>
                  <a:pt x="1146463" y="0"/>
                </a:lnTo>
                <a:arcTo wR="18117" hR="18117" stAng="16200000" swAng="5400000"/>
                <a:lnTo>
                  <a:pt x="1164580" y="408682"/>
                </a:lnTo>
                <a:lnTo>
                  <a:pt x="0" y="408682"/>
                </a:lnTo>
                <a:lnTo>
                  <a:pt x="0" y="0"/>
                </a:lnTo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555952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Impact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897632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Revues scientifiques</a:t>
            </a:r>
            <a:endParaRPr lang="en-US" sz="1467" dirty="0"/>
          </a:p>
        </p:txBody>
      </p:sp>
      <p:sp>
        <p:nvSpPr>
          <p:cNvPr id="19" name="Text 16"/>
          <p:cNvSpPr/>
          <p:nvPr/>
        </p:nvSpPr>
        <p:spPr>
          <a:xfrm>
            <a:off x="2450405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Technologique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4003179" y="2656979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Mensuelle</a:t>
            </a:r>
            <a:endParaRPr lang="en-US" sz="1467" dirty="0"/>
          </a:p>
        </p:txBody>
      </p:sp>
      <p:sp>
        <p:nvSpPr>
          <p:cNvPr id="21" name="Text 18"/>
          <p:cNvSpPr/>
          <p:nvPr/>
        </p:nvSpPr>
        <p:spPr>
          <a:xfrm>
            <a:off x="5555952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État de l'art (38 réfs)</a:t>
            </a:r>
            <a:endParaRPr lang="en-US" sz="1467" dirty="0"/>
          </a:p>
        </p:txBody>
      </p:sp>
      <p:sp>
        <p:nvSpPr>
          <p:cNvPr id="22" name="Text 19"/>
          <p:cNvSpPr/>
          <p:nvPr/>
        </p:nvSpPr>
        <p:spPr>
          <a:xfrm>
            <a:off x="897632" y="3509468"/>
            <a:ext cx="1166416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Coperion, Thermo Fisher</a:t>
            </a:r>
            <a:endParaRPr lang="en-US" sz="1467" dirty="0"/>
          </a:p>
        </p:txBody>
      </p:sp>
      <p:sp>
        <p:nvSpPr>
          <p:cNvPr id="23" name="Text 20"/>
          <p:cNvSpPr/>
          <p:nvPr/>
        </p:nvSpPr>
        <p:spPr>
          <a:xfrm>
            <a:off x="2450405" y="3509467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Concurrentielle</a:t>
            </a:r>
            <a:endParaRPr lang="en-US" sz="1467" dirty="0"/>
          </a:p>
        </p:txBody>
      </p:sp>
      <p:sp>
        <p:nvSpPr>
          <p:cNvPr id="24" name="Text 21"/>
          <p:cNvSpPr/>
          <p:nvPr/>
        </p:nvSpPr>
        <p:spPr>
          <a:xfrm>
            <a:off x="4003179" y="350946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Trimestrielle</a:t>
            </a:r>
            <a:endParaRPr lang="en-US" sz="1467" dirty="0"/>
          </a:p>
        </p:txBody>
      </p:sp>
      <p:sp>
        <p:nvSpPr>
          <p:cNvPr id="25" name="Text 22"/>
          <p:cNvSpPr/>
          <p:nvPr/>
        </p:nvSpPr>
        <p:spPr>
          <a:xfrm>
            <a:off x="5555952" y="3509467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Positionnement</a:t>
            </a:r>
            <a:endParaRPr lang="en-US" sz="1467" dirty="0"/>
          </a:p>
        </p:txBody>
      </p:sp>
      <p:sp>
        <p:nvSpPr>
          <p:cNvPr id="26" name="Text 23"/>
          <p:cNvSpPr/>
          <p:nvPr/>
        </p:nvSpPr>
        <p:spPr>
          <a:xfrm>
            <a:off x="897632" y="4666358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Cabinets d'études</a:t>
            </a:r>
            <a:endParaRPr lang="en-US" sz="1467" dirty="0"/>
          </a:p>
        </p:txBody>
      </p:sp>
      <p:sp>
        <p:nvSpPr>
          <p:cNvPr id="27" name="Text 24"/>
          <p:cNvSpPr/>
          <p:nvPr/>
        </p:nvSpPr>
        <p:spPr>
          <a:xfrm>
            <a:off x="2450405" y="466635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Sectorielle</a:t>
            </a:r>
            <a:endParaRPr lang="en-US" sz="1467" dirty="0"/>
          </a:p>
        </p:txBody>
      </p:sp>
      <p:sp>
        <p:nvSpPr>
          <p:cNvPr id="28" name="Text 25"/>
          <p:cNvSpPr/>
          <p:nvPr/>
        </p:nvSpPr>
        <p:spPr>
          <a:xfrm>
            <a:off x="4003179" y="466635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Ponctuelle</a:t>
            </a:r>
            <a:endParaRPr lang="en-US" sz="1467" dirty="0"/>
          </a:p>
        </p:txBody>
      </p:sp>
      <p:sp>
        <p:nvSpPr>
          <p:cNvPr id="29" name="Text 26"/>
          <p:cNvSpPr/>
          <p:nvPr/>
        </p:nvSpPr>
        <p:spPr>
          <a:xfrm>
            <a:off x="5555952" y="4666358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Chiffrage marché</a:t>
            </a:r>
            <a:endParaRPr lang="en-US" sz="1467" dirty="0"/>
          </a:p>
        </p:txBody>
      </p:sp>
      <p:sp>
        <p:nvSpPr>
          <p:cNvPr id="30" name="Text 27"/>
          <p:cNvSpPr/>
          <p:nvPr/>
        </p:nvSpPr>
        <p:spPr>
          <a:xfrm>
            <a:off x="897632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ECHA (PFAS)</a:t>
            </a:r>
            <a:endParaRPr lang="en-US" sz="1467" dirty="0"/>
          </a:p>
        </p:txBody>
      </p:sp>
      <p:sp>
        <p:nvSpPr>
          <p:cNvPr id="31" name="Text 28"/>
          <p:cNvSpPr/>
          <p:nvPr/>
        </p:nvSpPr>
        <p:spPr>
          <a:xfrm>
            <a:off x="2450405" y="5518845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Réglementaire</a:t>
            </a:r>
            <a:endParaRPr lang="en-US" sz="1467" dirty="0"/>
          </a:p>
        </p:txBody>
      </p:sp>
      <p:sp>
        <p:nvSpPr>
          <p:cNvPr id="32" name="Text 29"/>
          <p:cNvSpPr/>
          <p:nvPr/>
        </p:nvSpPr>
        <p:spPr>
          <a:xfrm>
            <a:off x="4003179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Semestrielle</a:t>
            </a:r>
            <a:endParaRPr lang="en-US" sz="1467" dirty="0"/>
          </a:p>
        </p:txBody>
      </p:sp>
      <p:sp>
        <p:nvSpPr>
          <p:cNvPr id="33" name="Text 30"/>
          <p:cNvSpPr/>
          <p:nvPr/>
        </p:nvSpPr>
        <p:spPr>
          <a:xfrm>
            <a:off x="5555952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Voie sèche</a:t>
            </a:r>
            <a:endParaRPr lang="en-US" sz="1467" dirty="0"/>
          </a:p>
        </p:txBody>
      </p:sp>
      <p:pic>
        <p:nvPicPr>
          <p:cNvPr id="36" name="Image 35" descr="07 - Gestion du Projet.&#10;&#10;Le contenu généré par l’IA peut être incorrect.">
            <a:extLst>
              <a:ext uri="{FF2B5EF4-FFF2-40B4-BE49-F238E27FC236}">
                <a16:creationId xmlns:a16="http://schemas.microsoft.com/office/drawing/2014/main" id="{023AD63A-D76C-7485-A476-A252E4AA5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59" y="-19106"/>
            <a:ext cx="11022523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96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1278434"/>
            <a:ext cx="622379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33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BUDGET</a:t>
            </a:r>
            <a:endParaRPr lang="en-US" sz="2933" dirty="0"/>
          </a:p>
        </p:txBody>
      </p:sp>
      <p:sp>
        <p:nvSpPr>
          <p:cNvPr id="4" name="Shape 1"/>
          <p:cNvSpPr/>
          <p:nvPr/>
        </p:nvSpPr>
        <p:spPr>
          <a:xfrm>
            <a:off x="5270104" y="2046983"/>
            <a:ext cx="6223793" cy="3532485"/>
          </a:xfrm>
          <a:prstGeom prst="roundRect">
            <a:avLst>
              <a:gd name="adj" fmla="val 84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5270104" y="2627710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270104" y="3524449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270104" y="4421189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270104" y="4998741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277148" y="2053333"/>
            <a:ext cx="2069901" cy="574377"/>
          </a:xfrm>
          <a:custGeom>
            <a:avLst/>
            <a:gdLst/>
            <a:ahLst/>
            <a:cxnLst/>
            <a:rect l="l" t="t" r="r" b="b"/>
            <a:pathLst>
              <a:path w="1552426" h="430783">
                <a:moveTo>
                  <a:pt x="18702" y="0"/>
                </a:moveTo>
                <a:lnTo>
                  <a:pt x="1552426" y="0"/>
                </a:lnTo>
                <a:lnTo>
                  <a:pt x="1552426" y="430783"/>
                </a:lnTo>
                <a:lnTo>
                  <a:pt x="0" y="430783"/>
                </a:lnTo>
                <a:lnTo>
                  <a:pt x="0" y="18702"/>
                </a:lnTo>
                <a:arcTo wR="18702" hR="18702" stAng="10800000" swAng="5400000"/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76577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Poste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7347050" y="2053333"/>
            <a:ext cx="2069901" cy="574377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546479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Nature</a:t>
            </a:r>
            <a:endParaRPr lang="en-US" sz="1533" dirty="0"/>
          </a:p>
        </p:txBody>
      </p:sp>
      <p:sp>
        <p:nvSpPr>
          <p:cNvPr id="13" name="Shape 10"/>
          <p:cNvSpPr/>
          <p:nvPr/>
        </p:nvSpPr>
        <p:spPr>
          <a:xfrm>
            <a:off x="9416951" y="2053333"/>
            <a:ext cx="2069901" cy="574377"/>
          </a:xfrm>
          <a:custGeom>
            <a:avLst/>
            <a:gdLst/>
            <a:ahLst/>
            <a:cxnLst/>
            <a:rect l="l" t="t" r="r" b="b"/>
            <a:pathLst>
              <a:path w="1552426" h="430783">
                <a:moveTo>
                  <a:pt x="0" y="0"/>
                </a:moveTo>
                <a:lnTo>
                  <a:pt x="1533725" y="0"/>
                </a:lnTo>
                <a:arcTo wR="18702" hR="18702" stAng="16200000" swAng="5400000"/>
                <a:lnTo>
                  <a:pt x="1552426" y="430783"/>
                </a:lnTo>
                <a:lnTo>
                  <a:pt x="0" y="430783"/>
                </a:lnTo>
                <a:lnTo>
                  <a:pt x="0" y="0"/>
                </a:lnTo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616380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Coût</a:t>
            </a:r>
            <a:endParaRPr lang="en-US" sz="1533" dirty="0"/>
          </a:p>
        </p:txBody>
      </p:sp>
      <p:sp>
        <p:nvSpPr>
          <p:cNvPr id="15" name="Text 12"/>
          <p:cNvSpPr/>
          <p:nvPr/>
        </p:nvSpPr>
        <p:spPr>
          <a:xfrm>
            <a:off x="5476577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Temps-homme (4 mois)</a:t>
            </a:r>
            <a:endParaRPr lang="en-US" sz="1533" dirty="0"/>
          </a:p>
        </p:txBody>
      </p:sp>
      <p:sp>
        <p:nvSpPr>
          <p:cNvPr id="16" name="Text 13"/>
          <p:cNvSpPr/>
          <p:nvPr/>
        </p:nvSpPr>
        <p:spPr>
          <a:xfrm>
            <a:off x="7546479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Investissement principal</a:t>
            </a:r>
            <a:endParaRPr lang="en-US" sz="1533" dirty="0"/>
          </a:p>
        </p:txBody>
      </p:sp>
      <p:sp>
        <p:nvSpPr>
          <p:cNvPr id="17" name="Text 14"/>
          <p:cNvSpPr/>
          <p:nvPr/>
        </p:nvSpPr>
        <p:spPr>
          <a:xfrm>
            <a:off x="9616380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Ressource centrale</a:t>
            </a:r>
            <a:endParaRPr lang="en-US" sz="1533" dirty="0"/>
          </a:p>
        </p:txBody>
      </p:sp>
      <p:sp>
        <p:nvSpPr>
          <p:cNvPr id="18" name="Text 15"/>
          <p:cNvSpPr/>
          <p:nvPr/>
        </p:nvSpPr>
        <p:spPr>
          <a:xfrm>
            <a:off x="5476577" y="3653631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Licences logicielles</a:t>
            </a:r>
            <a:endParaRPr lang="en-US" sz="1533" dirty="0"/>
          </a:p>
        </p:txBody>
      </p:sp>
      <p:sp>
        <p:nvSpPr>
          <p:cNvPr id="19" name="Text 16"/>
          <p:cNvSpPr/>
          <p:nvPr/>
        </p:nvSpPr>
        <p:spPr>
          <a:xfrm>
            <a:off x="7546479" y="365363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Open source</a:t>
            </a:r>
            <a:endParaRPr lang="en-US" sz="1533" dirty="0"/>
          </a:p>
        </p:txBody>
      </p:sp>
      <p:sp>
        <p:nvSpPr>
          <p:cNvPr id="20" name="Text 17"/>
          <p:cNvSpPr/>
          <p:nvPr/>
        </p:nvSpPr>
        <p:spPr>
          <a:xfrm>
            <a:off x="9616380" y="365363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0 €</a:t>
            </a:r>
            <a:endParaRPr lang="en-US" sz="1533" dirty="0"/>
          </a:p>
        </p:txBody>
      </p:sp>
      <p:sp>
        <p:nvSpPr>
          <p:cNvPr id="21" name="Text 18"/>
          <p:cNvSpPr/>
          <p:nvPr/>
        </p:nvSpPr>
        <p:spPr>
          <a:xfrm>
            <a:off x="5476577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Hébergement</a:t>
            </a:r>
            <a:endParaRPr lang="en-US" sz="1533" dirty="0"/>
          </a:p>
        </p:txBody>
      </p:sp>
      <p:sp>
        <p:nvSpPr>
          <p:cNvPr id="22" name="Text 19"/>
          <p:cNvSpPr/>
          <p:nvPr/>
        </p:nvSpPr>
        <p:spPr>
          <a:xfrm>
            <a:off x="7546479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Freemium</a:t>
            </a:r>
            <a:endParaRPr lang="en-US" sz="1533" dirty="0"/>
          </a:p>
        </p:txBody>
      </p:sp>
      <p:sp>
        <p:nvSpPr>
          <p:cNvPr id="23" name="Text 20"/>
          <p:cNvSpPr/>
          <p:nvPr/>
        </p:nvSpPr>
        <p:spPr>
          <a:xfrm>
            <a:off x="9616380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0 €</a:t>
            </a:r>
            <a:endParaRPr lang="en-US" sz="1533" dirty="0"/>
          </a:p>
        </p:txBody>
      </p:sp>
      <p:sp>
        <p:nvSpPr>
          <p:cNvPr id="24" name="Text 21"/>
          <p:cNvSpPr/>
          <p:nvPr/>
        </p:nvSpPr>
        <p:spPr>
          <a:xfrm>
            <a:off x="5476577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Données d'essais</a:t>
            </a:r>
            <a:endParaRPr lang="en-US" sz="1533" dirty="0"/>
          </a:p>
        </p:txBody>
      </p:sp>
      <p:sp>
        <p:nvSpPr>
          <p:cNvPr id="25" name="Text 22"/>
          <p:cNvSpPr/>
          <p:nvPr/>
        </p:nvSpPr>
        <p:spPr>
          <a:xfrm>
            <a:off x="7546479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Ressource Rondol</a:t>
            </a:r>
            <a:endParaRPr lang="en-US" sz="1533" dirty="0"/>
          </a:p>
        </p:txBody>
      </p:sp>
      <p:sp>
        <p:nvSpPr>
          <p:cNvPr id="26" name="Text 23"/>
          <p:cNvSpPr/>
          <p:nvPr/>
        </p:nvSpPr>
        <p:spPr>
          <a:xfrm>
            <a:off x="9616380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Mise à dispo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647538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5659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07 — GESTION DE PROJET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186061"/>
            <a:ext cx="10795524" cy="3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Indicateurs &amp; qualité logicielle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98086" y="1880691"/>
            <a:ext cx="352535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8086" y="2258913"/>
            <a:ext cx="3525352" cy="2647652"/>
          </a:xfrm>
          <a:prstGeom prst="roundRect">
            <a:avLst>
              <a:gd name="adj" fmla="val 90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2664023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065959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3467894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099520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98086" y="4501455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933923" y="2258913"/>
            <a:ext cx="9974" cy="26476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63312" y="2258913"/>
            <a:ext cx="9974" cy="26476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4535" y="2265263"/>
            <a:ext cx="1229389" cy="398760"/>
          </a:xfrm>
          <a:custGeom>
            <a:avLst/>
            <a:gdLst/>
            <a:ahLst/>
            <a:cxnLst/>
            <a:rect l="l" t="t" r="r" b="b"/>
            <a:pathLst>
              <a:path w="1229389" h="398760">
                <a:moveTo>
                  <a:pt x="19948" y="0"/>
                </a:moveTo>
                <a:lnTo>
                  <a:pt x="1229389" y="0"/>
                </a:lnTo>
                <a:lnTo>
                  <a:pt x="1229389" y="398760"/>
                </a:lnTo>
                <a:lnTo>
                  <a:pt x="0" y="398760"/>
                </a:lnTo>
                <a:lnTo>
                  <a:pt x="0" y="19948"/>
                </a:lnTo>
                <a:arcTo wR="19948" hR="19948" stAng="10800000" swAng="5400000"/>
                <a:close/>
              </a:path>
            </a:pathLst>
          </a:cu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4074" y="2348210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933923" y="2265263"/>
            <a:ext cx="1229389" cy="398760"/>
          </a:xfrm>
          <a:prstGeom prst="rect">
            <a:avLst/>
          </a:pr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096638" y="2348210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Mesuré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63312" y="2265263"/>
            <a:ext cx="1053776" cy="398760"/>
          </a:xfrm>
          <a:custGeom>
            <a:avLst/>
            <a:gdLst/>
            <a:ahLst/>
            <a:cxnLst/>
            <a:rect l="l" t="t" r="r" b="b"/>
            <a:pathLst>
              <a:path w="1053776" h="398760">
                <a:moveTo>
                  <a:pt x="0" y="0"/>
                </a:moveTo>
                <a:lnTo>
                  <a:pt x="1033828" y="0"/>
                </a:lnTo>
                <a:arcTo wR="19948" hR="19948" stAng="16200000" swAng="5400000"/>
                <a:lnTo>
                  <a:pt x="1053776" y="398760"/>
                </a:lnTo>
                <a:lnTo>
                  <a:pt x="0" y="398760"/>
                </a:lnTo>
                <a:lnTo>
                  <a:pt x="0" y="0"/>
                </a:lnTo>
                <a:close/>
              </a:path>
            </a:pathLst>
          </a:custGeom>
          <a:solidFill>
            <a:srgbClr val="C6C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326027" y="2348210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Statut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4074" y="2750145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96638" y="2750145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725 / 725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26027" y="2750145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4074" y="3152080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Pages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096638" y="3152080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 / 7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6027" y="3152080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4074" y="3554016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F1-macro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96638" y="3554016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26027" y="3554016"/>
            <a:ext cx="731522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Non atteint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4074" y="4185642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WCAG AA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096638" y="4185642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6,38:1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26027" y="4185642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4074" y="4587577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Démo client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096638" y="4587577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16 juin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26027" y="4587577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Tenu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8086" y="5050135"/>
            <a:ext cx="3525352" cy="998637"/>
          </a:xfrm>
          <a:prstGeom prst="roundRect">
            <a:avLst>
              <a:gd name="adj" fmla="val 2397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25" y="5236766"/>
            <a:ext cx="199425" cy="15954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16590" y="5204916"/>
            <a:ext cx="284730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F1 = 0,809 vs cible 0,85 : limite assumée. Le prochain gain viendra de nouvelles campagnes.</a:t>
            </a:r>
            <a:endParaRPr lang="en-US" sz="125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313" y="19948"/>
            <a:ext cx="6891964" cy="68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70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98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08 — 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16273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Oui — le procédé devient lisible, comparable et prédictible.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98086" y="2165449"/>
            <a:ext cx="1079552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Mais pas autonome.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8086" y="2816523"/>
            <a:ext cx="3465525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7510" y="301595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ACQUIS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428901"/>
            <a:ext cx="30666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Jumeau numérique cohérent, agent explicable, HMI démontrable, modèle validé sous protocole strict.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816523"/>
            <a:ext cx="3465525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62460" y="301595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ASSUMÉ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60" y="3428901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Physique nominale, 8 essais, pression filière différée. Le cadre est explicite.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816523"/>
            <a:ext cx="3465624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7410" y="3015952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APPRIS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10" y="3428901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rigueur du protocole vaut davantage qu'un score flatteur.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8086" y="5204222"/>
            <a:ext cx="10795524" cy="7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prochain gain viendra de nouvelles campagnes — pas d'un modèle plus sophistiqué.</a:t>
            </a:r>
            <a:endParaRPr lang="en-US" sz="2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C4E3693-C43A-0A06-C1E4-74BC64918DCD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9776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592" y="255095"/>
            <a:ext cx="2817643" cy="733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212" y="299092"/>
            <a:ext cx="1658102" cy="7353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15316" y="2352289"/>
            <a:ext cx="6223638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Questions et échanges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5336472" y="4759186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Wilfried Galtier </a:t>
            </a:r>
          </a:p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u="sng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mbeumigautier@gmail.com</a:t>
            </a:r>
            <a:endParaRPr lang="en-US" sz="15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5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en ligne: 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  <a:hlinkClick r:id="rId7"/>
              </a:rPr>
              <a:t>rondol-process-supervision-demo.streamlit.app</a:t>
            </a:r>
            <a:endParaRPr lang="en-US" sz="15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5E8ECEE-0FE7-69C1-AD4C-FDF0907B36B9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pic>
        <p:nvPicPr>
          <p:cNvPr id="10" name="Image 9" descr="The image depicts a person in a business suit holding a question mark symbol.&#10;&#10;Le contenu généré par l’IA peut être incorrect.">
            <a:extLst>
              <a:ext uri="{FF2B5EF4-FFF2-40B4-BE49-F238E27FC236}">
                <a16:creationId xmlns:a16="http://schemas.microsoft.com/office/drawing/2014/main" id="{FFD37727-CE06-DCE0-349E-6FF0CEC219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116" y="2838461"/>
            <a:ext cx="1458158" cy="1623672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DCA7732-BE24-F7BB-E3CA-C46CD96A9187}"/>
              </a:ext>
            </a:extLst>
          </p:cNvPr>
          <p:cNvSpPr txBox="1"/>
          <p:nvPr/>
        </p:nvSpPr>
        <p:spPr>
          <a:xfrm>
            <a:off x="5817118" y="1494386"/>
            <a:ext cx="5430186" cy="72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Nous vous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remercions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pour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votre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 aimable attention et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votre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écoute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563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1432</Words>
  <Application>Microsoft Office PowerPoint</Application>
  <PresentationFormat>Grand écran</PresentationFormat>
  <Paragraphs>341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Quattrocento</vt:lpstr>
      <vt:lpstr>Quattrocento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Wilfried MBEUMI</cp:lastModifiedBy>
  <cp:revision>3</cp:revision>
  <dcterms:created xsi:type="dcterms:W3CDTF">2026-08-17T14:04:15Z</dcterms:created>
  <dcterms:modified xsi:type="dcterms:W3CDTF">2026-08-17T18:24:59Z</dcterms:modified>
</cp:coreProperties>
</file>